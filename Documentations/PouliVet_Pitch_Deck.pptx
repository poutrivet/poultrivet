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uuBtcH63/SuGt4P2N+cW7TMID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9C107C-0BC2-43BA-B838-339B9A7E3D32}">
  <a:tblStyle styleId="{1B9C107C-0BC2-43BA-B838-339B9A7E3D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E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046720" y="-2286000"/>
            <a:ext cx="6400800" cy="6400800"/>
          </a:xfrm>
          <a:prstGeom prst="ellipse">
            <a:avLst/>
          </a:prstGeom>
          <a:solidFill>
            <a:srgbClr val="1B4332">
              <a:alpha val="40000"/>
            </a:srgbClr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235440" y="-1097280"/>
            <a:ext cx="4114800" cy="4114800"/>
          </a:xfrm>
          <a:prstGeom prst="ellipse">
            <a:avLst/>
          </a:prstGeom>
          <a:solidFill>
            <a:srgbClr val="2D6A4F">
              <a:alpha val="50196"/>
            </a:srgbClr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0" y="82296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731520" y="173736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Georgia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PouliVet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77240" y="3246120"/>
            <a:ext cx="914400" cy="54864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77245" y="358633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600"/>
              <a:buFont typeface="Calibri"/>
              <a:buNone/>
            </a:pPr>
            <a:r>
              <a:rPr b="0" i="0" lang="en-US" sz="19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AI-powered satellite intelligence protecting 4.2 million smallholder farmers</a:t>
            </a:r>
            <a:endParaRPr b="0" i="0" sz="19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600"/>
              <a:buFont typeface="Calibri"/>
              <a:buNone/>
            </a:pPr>
            <a:r>
              <a:rPr b="0" i="0" lang="en-US" sz="19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from poultry disease losses worth UGX 350 billion annually.</a:t>
            </a:r>
            <a:endParaRPr b="0" i="0" sz="19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471086" y="5897880"/>
            <a:ext cx="457200" cy="366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914400" y="4886640"/>
            <a:ext cx="10972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Team:  </a:t>
            </a:r>
            <a:r>
              <a:rPr b="0" i="0" lang="en-US" sz="20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Iyundhu  </a:t>
            </a:r>
            <a:r>
              <a:rPr lang="en-US" sz="20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Kennedy Kisame,                            Yiga Isaac Marvin</a:t>
            </a:r>
            <a:endParaRPr sz="2000">
              <a:solidFill>
                <a:srgbClr val="D8F3D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00"/>
              <a:buFont typeface="Calibri"/>
              <a:buNone/>
            </a:pPr>
            <a:r>
              <a:rPr lang="en-US" sz="2000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            Mukisa Rachel Jovia                                          Nsubuga Jeremiah</a:t>
            </a:r>
            <a:endParaRPr sz="2000">
              <a:solidFill>
                <a:srgbClr val="D8F3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6B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B5C"/>
                </a:solidFill>
                <a:latin typeface="Calibri"/>
                <a:ea typeface="Calibri"/>
                <a:cs typeface="Calibri"/>
                <a:sym typeface="Calibri"/>
              </a:rPr>
              <a:t>1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i="0" lang="en-US" sz="26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9144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0F2E1F"/>
                </a:solidFill>
                <a:latin typeface="Georgia"/>
                <a:ea typeface="Georgia"/>
                <a:cs typeface="Georgia"/>
                <a:sym typeface="Georgia"/>
              </a:rPr>
              <a:t>Uganda's poultry farmers are flying blind.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71500" y="2286000"/>
            <a:ext cx="352044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BE0DC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71500" y="2286000"/>
            <a:ext cx="73152" cy="2377440"/>
          </a:xfrm>
          <a:prstGeom prst="rect">
            <a:avLst/>
          </a:prstGeom>
          <a:solidFill>
            <a:srgbClr val="274E13"/>
          </a:solidFill>
          <a:ln cap="flat" cmpd="sng" w="127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800100" y="2743200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6400"/>
              <a:buFont typeface="Georgia"/>
              <a:buNone/>
            </a:pPr>
            <a:r>
              <a:rPr b="1" i="0" lang="en-US" sz="6400" u="none" cap="none" strike="noStrike">
                <a:solidFill>
                  <a:srgbClr val="274E13"/>
                </a:solidFill>
                <a:latin typeface="Georgia"/>
                <a:ea typeface="Georgia"/>
                <a:cs typeface="Georgia"/>
                <a:sym typeface="Georgia"/>
              </a:rPr>
              <a:t>73%</a:t>
            </a:r>
            <a:endParaRPr b="0" i="0" sz="6400" u="none" cap="none" strike="noStrike">
              <a:solidFill>
                <a:srgbClr val="274E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00100" y="388620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of poultry deaths happen with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zero prior warning to farmers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320540" y="2286000"/>
            <a:ext cx="352044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BE0DC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320540" y="2286000"/>
            <a:ext cx="73152" cy="2377440"/>
          </a:xfrm>
          <a:prstGeom prst="rect">
            <a:avLst/>
          </a:prstGeom>
          <a:solidFill>
            <a:srgbClr val="274E13"/>
          </a:solidFill>
          <a:ln cap="flat" cmpd="sng" w="127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549140" y="2743200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274E13"/>
                </a:solidFill>
                <a:latin typeface="Georgia"/>
                <a:ea typeface="Georgia"/>
                <a:cs typeface="Georgia"/>
                <a:sym typeface="Georgia"/>
              </a:rPr>
              <a:t>UGX 350B</a:t>
            </a:r>
            <a:endParaRPr b="0" i="0" sz="4200" u="none" cap="none" strike="noStrike">
              <a:solidFill>
                <a:srgbClr val="274E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49140" y="388620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300"/>
              <a:buFont typeface="Calibri"/>
              <a:buNone/>
            </a:pPr>
            <a:r>
              <a:rPr b="1" i="0" lang="en-US" sz="22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lost to preventable disease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300"/>
              <a:buFont typeface="Calibri"/>
              <a:buNone/>
            </a:pPr>
            <a:r>
              <a:rPr b="1" i="0" lang="en-US" sz="22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every year nationally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069580" y="2286000"/>
            <a:ext cx="352044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BE0DC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069580" y="2286000"/>
            <a:ext cx="73152" cy="2377440"/>
          </a:xfrm>
          <a:prstGeom prst="rect">
            <a:avLst/>
          </a:prstGeom>
          <a:solidFill>
            <a:srgbClr val="274E13"/>
          </a:solidFill>
          <a:ln cap="flat" cmpd="sng" w="127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298180" y="2743200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274E13"/>
                </a:solidFill>
                <a:latin typeface="Georgia"/>
                <a:ea typeface="Georgia"/>
                <a:cs typeface="Georgia"/>
                <a:sym typeface="Georgia"/>
              </a:rPr>
              <a:t>20km+</a:t>
            </a:r>
            <a:endParaRPr b="0" i="0" sz="5600" u="none" cap="none" strike="noStrike">
              <a:solidFill>
                <a:srgbClr val="274E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298180" y="388620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300"/>
              <a:buFont typeface="Calibri"/>
              <a:buNone/>
            </a:pPr>
            <a:r>
              <a:rPr b="1" i="0" lang="en-US" sz="20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to nearest veterinary officer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300"/>
              <a:buFont typeface="Calibri"/>
              <a:buNone/>
            </a:pPr>
            <a:r>
              <a:rPr b="1" i="0" lang="en-US" sz="20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for 61% of farmers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371600" y="507492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700"/>
              <a:buFont typeface="Georgia"/>
              <a:buNone/>
            </a:pPr>
            <a:r>
              <a:rPr b="1" i="1" lang="en-US" sz="1800" u="none" cap="none" strike="noStrike">
                <a:solidFill>
                  <a:srgbClr val="1A2E22"/>
                </a:solidFill>
                <a:latin typeface="Georgia"/>
                <a:ea typeface="Georgia"/>
                <a:cs typeface="Georgia"/>
                <a:sym typeface="Georgia"/>
              </a:rPr>
              <a:t>Today, a smallholder farmer learns of disease only when their flock starts dying by then, treatment is too late.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00"/>
              <a:buFont typeface="Georgia"/>
              <a:buNone/>
            </a:pPr>
            <a:r>
              <a:rPr b="1" i="1" lang="en-US" sz="1300" u="none" cap="none" strike="noStrik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rPr>
              <a:t>PouliVet</a:t>
            </a:r>
            <a:endParaRPr b="1" i="0" sz="13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6B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B5C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F2E1F"/>
                </a:solidFill>
                <a:latin typeface="Georgia"/>
                <a:ea typeface="Georgia"/>
                <a:cs typeface="Georgia"/>
                <a:sym typeface="Georgia"/>
              </a:rPr>
              <a:t>PouliVet closes the information gap with satellites and AI.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2286000"/>
            <a:ext cx="544068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57200" y="2286000"/>
            <a:ext cx="5440680" cy="109728"/>
          </a:xfrm>
          <a:prstGeom prst="rect">
            <a:avLst/>
          </a:prstGeom>
          <a:solidFill>
            <a:srgbClr val="274E13"/>
          </a:solidFill>
          <a:ln cap="flat" cmpd="sng" w="127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777240" y="2697480"/>
            <a:ext cx="777240" cy="777240"/>
          </a:xfrm>
          <a:prstGeom prst="ellipse">
            <a:avLst/>
          </a:prstGeom>
          <a:solidFill>
            <a:srgbClr val="274E13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1737360" y="27432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PREDICT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737360" y="3063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74E13"/>
                </a:solidFill>
                <a:latin typeface="Georgia"/>
                <a:ea typeface="Georgia"/>
                <a:cs typeface="Georgia"/>
                <a:sym typeface="Georgia"/>
              </a:rPr>
              <a:t>Satellite Intelligence</a:t>
            </a:r>
            <a:endParaRPr b="0" i="0" sz="2200" u="none" cap="none" strike="noStrike">
              <a:solidFill>
                <a:srgbClr val="274E1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77240" y="384048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Sentinel-2 and MODIS satellites track vegetation, moisture, temperature, and water bodies across 134 Uganda districts every week.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77240" y="48920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Warns farmers BEFORE outbreaks happen.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263640" y="2286000"/>
            <a:ext cx="544068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BF1D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263640" y="2286000"/>
            <a:ext cx="5440680" cy="109728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583680" y="2697480"/>
            <a:ext cx="777240" cy="77724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543800" y="27432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DIAGNOSE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543800" y="3063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F2E1F"/>
                </a:solidFill>
                <a:latin typeface="Georgia"/>
                <a:ea typeface="Georgia"/>
                <a:cs typeface="Georgia"/>
                <a:sym typeface="Georgia"/>
              </a:rPr>
              <a:t>On-Device AI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583680" y="384048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400"/>
              <a:buFont typeface="Calibri"/>
              <a:buNone/>
            </a:pPr>
            <a:r>
              <a:rPr b="1" i="0" lang="en-US" sz="19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YOLOv8n model analyses chicken dropping photos in under 5 seconds — detecting Newcastle, Coccidiosis, and Salmonella.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583680" y="48920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400"/>
              <a:buFont typeface="Calibri"/>
              <a:buNone/>
            </a:pPr>
            <a:r>
              <a:rPr b="1" i="1" lang="en-US" sz="1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94% accuracy on field-captured images.</a:t>
            </a:r>
            <a:endParaRPr b="1" i="0" sz="16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1800"/>
              <a:buFont typeface="Georgi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00"/>
              <a:buFont typeface="Georgia"/>
              <a:buNone/>
            </a:pPr>
            <a:r>
              <a:rPr b="1" i="1" lang="en-US" u="none" cap="none" strike="noStrike">
                <a:solidFill>
                  <a:srgbClr val="2D6A4F"/>
                </a:solidFill>
                <a:latin typeface="Georgia"/>
                <a:ea typeface="Georgia"/>
                <a:cs typeface="Georgia"/>
                <a:sym typeface="Georgia"/>
              </a:rPr>
              <a:t>PouliVet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6B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B5C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LIVE 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48640" y="91440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2800"/>
              <a:buFont typeface="Georgia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029200" y="2468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440680" y="301752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440680" y="352044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40680" y="402336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40680" y="452628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608330" y="3977650"/>
            <a:ext cx="6583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757302" y="5735056"/>
            <a:ext cx="81756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rgbClr val="0F2E1F"/>
                </a:solidFill>
                <a:latin typeface="Calibri"/>
                <a:ea typeface="Calibri"/>
                <a:cs typeface="Calibri"/>
                <a:sym typeface="Calibri"/>
              </a:rPr>
              <a:t>Watch the demo:  </a:t>
            </a:r>
            <a:r>
              <a:rPr b="1" lang="en-US" sz="200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https://www.youtube.com/watch?v=Pf2xE6BRTmA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88" y="5944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2D6A4F"/>
                </a:solidFill>
                <a:latin typeface="Georgia"/>
                <a:ea typeface="Georgia"/>
                <a:cs typeface="Georgia"/>
                <a:sym typeface="Georgia"/>
              </a:rPr>
              <a:t>PouliVet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6B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B5C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4" title="31787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4310" y="278950"/>
            <a:ext cx="2445050" cy="5298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" title="31788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6430" y="278950"/>
            <a:ext cx="2517608" cy="545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" title="317872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62400" y="189625"/>
            <a:ext cx="2655249" cy="5456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VALUE PROPOSITION</a:t>
            </a:r>
            <a:endParaRPr b="0" i="0" sz="24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2E1F"/>
                </a:solidFill>
                <a:latin typeface="Georgia"/>
                <a:ea typeface="Georgia"/>
                <a:cs typeface="Georgia"/>
                <a:sym typeface="Georgia"/>
              </a:rPr>
              <a:t>Value across three layers of the ecosystem.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11480" y="2011680"/>
            <a:ext cx="3657600" cy="1188600"/>
          </a:xfrm>
          <a:prstGeom prst="rect">
            <a:avLst/>
          </a:prstGeom>
          <a:solidFill>
            <a:srgbClr val="274E13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11480" y="3200400"/>
            <a:ext cx="3657600" cy="2926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A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911975" y="2057324"/>
            <a:ext cx="30657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SMALLHOLDER FARMERS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911952" y="2560325"/>
            <a:ext cx="30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Save flocks. Save income.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85800" y="3337560"/>
            <a:ext cx="32004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Disease warnings BEFORE outbreaks happen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E22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Saves up to UGX 200,000 per production cycle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E22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Works on basic Android phones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E22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Free to use, no subscription required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251960" y="2011680"/>
            <a:ext cx="3657600" cy="118872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251960" y="3200400"/>
            <a:ext cx="3657600" cy="2926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A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5212080" y="228600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VETERINARY OFFICERS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212080" y="256032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Target the right districts.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526280" y="3337560"/>
            <a:ext cx="32004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National disease risk dashboard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E22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Targets visits to HIGH-risk areas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E22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10x more efficient field resource allocation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E22"/>
              </a:buClr>
              <a:buSzPts val="1800"/>
              <a:buFont typeface="Calibri"/>
              <a:buChar char="●"/>
            </a:pPr>
            <a:r>
              <a:rPr b="1" i="0" lang="en-US" sz="18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Data-driven supervision of livestock health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092440" y="2011680"/>
            <a:ext cx="3657600" cy="1188720"/>
          </a:xfrm>
          <a:prstGeom prst="rect">
            <a:avLst/>
          </a:prstGeom>
          <a:solidFill>
            <a:srgbClr val="274E13"/>
          </a:solidFill>
          <a:ln cap="flat" cmpd="sng" w="127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092440" y="3200400"/>
            <a:ext cx="3657600" cy="2926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A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760" y="2304288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9052560" y="228600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GOVERNMENT &amp; NGOs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9052560" y="2560320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First real-time surveillance.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8366760" y="3337560"/>
            <a:ext cx="320040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900"/>
              <a:buFont typeface="Calibri"/>
              <a:buChar char="●"/>
            </a:pPr>
            <a:r>
              <a:rPr b="1" i="0" lang="en-US" sz="19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Real-time disease surveillance for MAAIF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E22"/>
              </a:buClr>
              <a:buSzPts val="1900"/>
              <a:buFont typeface="Calibri"/>
              <a:buChar char="●"/>
            </a:pPr>
            <a:r>
              <a:rPr b="1" i="0" lang="en-US" sz="19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Data-driven policy interventions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E22"/>
              </a:buClr>
              <a:buSzPts val="1900"/>
              <a:buFont typeface="Calibri"/>
              <a:buChar char="●"/>
            </a:pPr>
            <a:r>
              <a:rPr b="1" i="0" lang="en-US" sz="19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Reduces national poultry losses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E22"/>
              </a:buClr>
              <a:buSzPts val="1900"/>
              <a:buFont typeface="Calibri"/>
              <a:buChar char="●"/>
            </a:pPr>
            <a:r>
              <a:rPr b="1" i="0" lang="en-US" sz="19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Supports food security objectives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2D6A4F"/>
                </a:solidFill>
                <a:latin typeface="Georgia"/>
                <a:ea typeface="Georgia"/>
                <a:cs typeface="Georgia"/>
                <a:sym typeface="Georgia"/>
              </a:rPr>
              <a:t>PouliVet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6B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B5C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i="0" lang="en-US" sz="25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MARKET SIZE</a:t>
            </a:r>
            <a:endParaRPr b="1" i="0" sz="25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2E1F"/>
                </a:solidFill>
                <a:latin typeface="Georgia"/>
                <a:ea typeface="Georgia"/>
                <a:cs typeface="Georgia"/>
                <a:sym typeface="Georgia"/>
              </a:rPr>
              <a:t>A massive, underserved, growing opportunity.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40080" y="1965960"/>
            <a:ext cx="10881360" cy="1280160"/>
          </a:xfrm>
          <a:prstGeom prst="rect">
            <a:avLst/>
          </a:prstGeom>
          <a:solidFill>
            <a:srgbClr val="274E13"/>
          </a:solidFill>
          <a:ln cap="flat" cmpd="sng" w="127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960120" y="2240280"/>
            <a:ext cx="731520" cy="73152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3774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1874520" y="219456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TAM  </a:t>
            </a: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Sub-Saharan Africa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874520" y="2560320"/>
            <a:ext cx="5852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rural households across SSA keep poultry as a primary livelihood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589520" y="214884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80%+</a:t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589520" y="295351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F2E1F"/>
                </a:solidFill>
                <a:latin typeface="Calibri"/>
                <a:ea typeface="Calibri"/>
                <a:cs typeface="Calibri"/>
                <a:sym typeface="Calibri"/>
              </a:rPr>
              <a:t>MDPI Pathogens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40080" y="3383280"/>
            <a:ext cx="10881360" cy="128016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3794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1874520" y="361188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SAM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East Africa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874520" y="3977640"/>
            <a:ext cx="5852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smallholder households across Uganda, Kenya, Tanzania, Rwanda — urban demand growing 4.5% annually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589520" y="356616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70M+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589520" y="43708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East Africa Poultry Report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40080" y="4800600"/>
            <a:ext cx="10881360" cy="1280160"/>
          </a:xfrm>
          <a:prstGeom prst="rect">
            <a:avLst/>
          </a:prstGeom>
          <a:solidFill>
            <a:srgbClr val="0F2E1F"/>
          </a:solidFill>
          <a:ln cap="flat" cmpd="sng" w="12700">
            <a:solidFill>
              <a:srgbClr val="0F2E1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960120" y="5074920"/>
            <a:ext cx="731520" cy="731520"/>
          </a:xfrm>
          <a:prstGeom prst="ellipse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280" y="5212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1874520" y="502920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SOM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Uganda  ·  Years 1-3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874520" y="5394960"/>
            <a:ext cx="5852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annual meat &amp; poultry market  ·  2.9M households rear chickens  ·  47M chickens nationally  ·  78.6% of livestock households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589520" y="498348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$1.5B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589520" y="57881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UBOS Census 2024  ·  FAO 2024  ·  IndexBox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2D6A4F"/>
                </a:solidFill>
                <a:latin typeface="Georgia"/>
                <a:ea typeface="Georgia"/>
                <a:cs typeface="Georgia"/>
                <a:sym typeface="Georgia"/>
              </a:rPr>
              <a:t>PouliVet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6B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B5C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b="1" i="0" sz="22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2800"/>
              <a:buFont typeface="Georgia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40080" y="1965960"/>
            <a:ext cx="5486400" cy="1965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A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40080" y="1965960"/>
            <a:ext cx="137160" cy="1965960"/>
          </a:xfrm>
          <a:prstGeom prst="rect">
            <a:avLst/>
          </a:prstGeom>
          <a:solidFill>
            <a:srgbClr val="0F2E1F"/>
          </a:solidFill>
          <a:ln cap="flat" cmpd="sng" w="12700">
            <a:solidFill>
              <a:srgbClr val="0F2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005840" y="2240280"/>
            <a:ext cx="502920" cy="502920"/>
          </a:xfrm>
          <a:prstGeom prst="ellipse">
            <a:avLst/>
          </a:prstGeom>
          <a:solidFill>
            <a:srgbClr val="0F2E1F"/>
          </a:solidFill>
          <a:ln cap="flat" cmpd="sng" w="12700">
            <a:solidFill>
              <a:srgbClr val="0F2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005840" y="22585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645920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2E1F"/>
                </a:solidFill>
                <a:latin typeface="Georgia"/>
                <a:ea typeface="Georgia"/>
                <a:cs typeface="Georgia"/>
                <a:sym typeface="Georgia"/>
              </a:rPr>
              <a:t>B2G — Government &amp; NGOs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645920" y="274320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Annual surveillance contracts with MAAIF, FAO, ILRI, USAID, GIZ for national disease intelligence dashboards.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1645920" y="347472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10M – </a:t>
            </a:r>
            <a:r>
              <a:rPr b="1" lang="en-US" sz="16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15M</a:t>
            </a:r>
            <a:r>
              <a:rPr b="1" i="0" lang="en-US" sz="16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 per agency / year</a:t>
            </a:r>
            <a:endParaRPr b="1" i="0" sz="16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309360" y="1965960"/>
            <a:ext cx="5486400" cy="1965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A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309360" y="1965960"/>
            <a:ext cx="137160" cy="196596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675120" y="2240280"/>
            <a:ext cx="502920" cy="502920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675120" y="22585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315200" y="224028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2E1F"/>
                </a:solidFill>
                <a:latin typeface="Georgia"/>
                <a:ea typeface="Georgia"/>
                <a:cs typeface="Georgia"/>
                <a:sym typeface="Georgia"/>
              </a:rPr>
              <a:t>B2B — Agribusiness Data API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315200" y="274320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Subscription access for feed manufacturers, vaccine distributors, livestock insurers, commercial hatcheries.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315200" y="347472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00"/>
              <a:buFont typeface="Calibri"/>
              <a:buNone/>
            </a:pPr>
            <a:r>
              <a:rPr b="1" lang="en-US" sz="180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UGX 100,000</a:t>
            </a:r>
            <a:r>
              <a:rPr b="1" i="0" lang="en-US" sz="18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 monthly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40080" y="4114800"/>
            <a:ext cx="5486400" cy="1965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A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640080" y="4114800"/>
            <a:ext cx="137160" cy="196596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005840" y="4389120"/>
            <a:ext cx="502920" cy="502920"/>
          </a:xfrm>
          <a:prstGeom prst="ellipse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005840" y="44074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645920" y="438912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2E1F"/>
                </a:solidFill>
                <a:latin typeface="Georgia"/>
                <a:ea typeface="Georgia"/>
                <a:cs typeface="Georgia"/>
                <a:sym typeface="Georgia"/>
              </a:rPr>
              <a:t>Premium Commercial Farms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645920" y="489204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100"/>
              <a:buFont typeface="Calibri"/>
              <a:buNone/>
            </a:pPr>
            <a:r>
              <a:t/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645925" y="5120650"/>
            <a:ext cx="4297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00"/>
              <a:buFont typeface="Calibri"/>
              <a:buNone/>
            </a:pPr>
            <a:r>
              <a:rPr b="1" lang="en-US" sz="160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UGX 50,000</a:t>
            </a:r>
            <a:r>
              <a:rPr b="1" i="0" lang="en-US" sz="16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 monthly 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309360" y="4114800"/>
            <a:ext cx="5486400" cy="1965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A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309360" y="4114800"/>
            <a:ext cx="137160" cy="196596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675120" y="4389120"/>
            <a:ext cx="502920" cy="50292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6675120" y="44074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315200" y="438912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2E1F"/>
                </a:solidFill>
                <a:latin typeface="Georgia"/>
                <a:ea typeface="Georgia"/>
                <a:cs typeface="Georgia"/>
                <a:sym typeface="Georgia"/>
              </a:rPr>
              <a:t>Telco SMS Partnerships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7315200" y="489204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22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1A2E22"/>
                </a:solidFill>
                <a:latin typeface="Calibri"/>
                <a:ea typeface="Calibri"/>
                <a:cs typeface="Calibri"/>
                <a:sym typeface="Calibri"/>
              </a:rPr>
              <a:t>Revenue share with MTN and Airtel for vernacular SMS disease alerts to farmers without smartphones.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7315200" y="562356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Per-message revenue share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solidFill>
            <a:srgbClr val="FBF1D0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YEAR 3 TARGET   </a:t>
            </a:r>
            <a:r>
              <a:rPr b="1" i="0" lang="en-US" sz="1400" u="none" cap="none" strike="noStrike">
                <a:solidFill>
                  <a:srgbClr val="0F2E1F"/>
                </a:solidFill>
                <a:latin typeface="Calibri"/>
                <a:ea typeface="Calibri"/>
                <a:cs typeface="Calibri"/>
                <a:sym typeface="Calibri"/>
              </a:rPr>
              <a:t>$500K ARR  ·  50,000 active monthly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6B5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66B5C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i="0" lang="en-US" sz="2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E1F"/>
              </a:buClr>
              <a:buSzPts val="3000"/>
              <a:buFont typeface="Georgia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8"/>
          <p:cNvGraphicFramePr/>
          <p:nvPr/>
        </p:nvGraphicFramePr>
        <p:xfrm>
          <a:off x="64008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{1B9C107C-0BC2-43BA-B838-339B9A7E3D32}</a:tableStyleId>
              </a:tblPr>
              <a:tblGrid>
                <a:gridCol w="4206250"/>
                <a:gridCol w="2194550"/>
                <a:gridCol w="2194550"/>
                <a:gridCol w="228600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Satellite Risk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Disease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Diagnosis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E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Uganda Local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Deployment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E1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PouliVet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B788"/>
                        </a:buClr>
                        <a:buSzPts val="2200"/>
                        <a:buFont typeface="Calibri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52B7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2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B788"/>
                        </a:buClr>
                        <a:buSzPts val="2200"/>
                        <a:buFont typeface="Calibri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52B7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2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B788"/>
                        </a:buClr>
                        <a:buSzPts val="2200"/>
                        <a:buFont typeface="Calibri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52B7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2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2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2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Traditional Veterinary Services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2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2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(MAAIF officers)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66B5C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rgbClr val="56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66B5C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rgbClr val="56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B788"/>
                        </a:buClr>
                        <a:buSzPts val="2200"/>
                        <a:buFont typeface="Calibri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52B7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2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2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2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EzyAgric / M-Omulimisa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2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2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(general agritech apps)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66B5C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rgbClr val="56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66B5C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rgbClr val="56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B788"/>
                        </a:buClr>
                        <a:buSzPts val="2200"/>
                        <a:buFont typeface="Calibri"/>
                        <a:buNone/>
                      </a:pPr>
                      <a:r>
                        <a:rPr b="1" lang="en-US" sz="2600" u="none" cap="none" strike="noStrike">
                          <a:solidFill>
                            <a:srgbClr val="52B7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2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F3DC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2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2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 Poultry Apps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2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2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(Poultry Plus, Farm IQ)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66B5C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rgbClr val="56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017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-US" sz="1500" u="none" cap="none" strike="noStrike">
                          <a:solidFill>
                            <a:srgbClr val="D4A0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1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66B5C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rgbClr val="56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2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2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Cowtribe (Ghana)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2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1A2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vet booking platform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1600" marB="101600" marR="101600" marL="1016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66B5C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rgbClr val="56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66B5C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rgbClr val="56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66B5C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200" u="none" cap="none" strike="noStrike">
                          <a:solidFill>
                            <a:srgbClr val="56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2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5EA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8"/>
          <p:cNvSpPr/>
          <p:nvPr/>
        </p:nvSpPr>
        <p:spPr>
          <a:xfrm>
            <a:off x="640080" y="5989320"/>
            <a:ext cx="10881360" cy="594360"/>
          </a:xfrm>
          <a:prstGeom prst="rect">
            <a:avLst/>
          </a:prstGeom>
          <a:solidFill>
            <a:srgbClr val="0F2E1F"/>
          </a:solidFill>
          <a:ln cap="flat" cmpd="sng" w="12700">
            <a:solidFill>
              <a:srgbClr val="0F2E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2" name="Google Shape;192;p8"/>
          <p:cNvSpPr/>
          <p:nvPr/>
        </p:nvSpPr>
        <p:spPr>
          <a:xfrm>
            <a:off x="640080" y="608076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OUR MOAT: 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satellite intelligence  +  AI diagnosis  +  local trust.  </a:t>
            </a:r>
            <a:r>
              <a:rPr b="1" i="1" lang="en-US" sz="18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No competitor offers all three.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66B5C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566B5C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E1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548650" y="548624"/>
            <a:ext cx="5486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i="0" lang="en-US" sz="2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40080" y="1600200"/>
            <a:ext cx="3474600" cy="224040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777250" y="2514532"/>
            <a:ext cx="320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Iyundhu Kennedy Kisame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77250" y="3108942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lang="en-US" sz="170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Operations lead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777240" y="33558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7093113" y="1622988"/>
            <a:ext cx="3474600" cy="224040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7275519" y="2162510"/>
            <a:ext cx="320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Mukisa Racheal Jovia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146675" y="2514500"/>
            <a:ext cx="5088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lang="en-US" sz="190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System architect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480560" y="354787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8183880" y="33558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548640" y="4069080"/>
            <a:ext cx="11064240" cy="182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548640" y="42519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280160" y="49377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85800" y="553212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526280" y="553212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8961120" y="49377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8366760" y="553212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48640" y="6446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400"/>
              <a:buFont typeface="Georgia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67134" y="4256186"/>
            <a:ext cx="3474600" cy="224040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Yiga Marvin Isaac</a:t>
            </a:r>
            <a:endParaRPr b="1" sz="2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lang="en-US" sz="220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ML lead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220795" y="4379968"/>
            <a:ext cx="3474600" cy="224040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Nsubuga Jeremiah</a:t>
            </a:r>
            <a:endParaRPr b="1"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lang="en-US" sz="180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Research and Innovation lead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Georgia"/>
              <a:buNone/>
            </a:pPr>
            <a:r>
              <a:t/>
            </a:r>
            <a:endParaRPr b="1" sz="3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2026-05-13T03:13:48Z</dcterms:created>
  <dc:creator>PouliVet Team</dc:creator>
</cp:coreProperties>
</file>
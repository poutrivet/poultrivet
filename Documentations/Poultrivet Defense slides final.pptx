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 Bold Italics" charset="1" panose="000008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9992" y="-1680508"/>
            <a:ext cx="13648016" cy="1364801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640768" y="-164456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367381" y="-633119"/>
            <a:ext cx="11553237" cy="115532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76280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37613" y="4282161"/>
            <a:ext cx="1634041" cy="163404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true" flipV="false" rot="0">
            <a:off x="2086248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1" y="0"/>
                </a:moveTo>
                <a:lnTo>
                  <a:pt x="0" y="0"/>
                </a:lnTo>
                <a:lnTo>
                  <a:pt x="0" y="503483"/>
                </a:lnTo>
                <a:lnTo>
                  <a:pt x="336771" y="503483"/>
                </a:lnTo>
                <a:lnTo>
                  <a:pt x="33677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191921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153255" y="4282161"/>
            <a:ext cx="1634041" cy="163404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801890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0" y="0"/>
                </a:lnTo>
                <a:lnTo>
                  <a:pt x="336770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77910" y="2291656"/>
            <a:ext cx="932181" cy="978434"/>
          </a:xfrm>
          <a:custGeom>
            <a:avLst/>
            <a:gdLst/>
            <a:ahLst/>
            <a:cxnLst/>
            <a:rect r="r" b="b" t="t" l="l"/>
            <a:pathLst>
              <a:path h="978434" w="932181">
                <a:moveTo>
                  <a:pt x="0" y="0"/>
                </a:moveTo>
                <a:lnTo>
                  <a:pt x="932180" y="0"/>
                </a:lnTo>
                <a:lnTo>
                  <a:pt x="932180" y="978434"/>
                </a:lnTo>
                <a:lnTo>
                  <a:pt x="0" y="978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726493" y="2760752"/>
            <a:ext cx="10773189" cy="227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85"/>
              </a:lnSpc>
              <a:spcBef>
                <a:spcPct val="0"/>
              </a:spcBef>
            </a:pPr>
            <a:r>
              <a:rPr lang="en-US" b="true" sz="12560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Poultrivet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48871" y="5029200"/>
            <a:ext cx="10150811" cy="144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2"/>
              </a:lnSpc>
            </a:pPr>
            <a:r>
              <a:rPr lang="en-US" b="true" sz="2405" i="true" spc="72">
                <a:solidFill>
                  <a:srgbClr val="1F202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Early Warning of Poultry Disease Risk in Ugandan Smallholder Farms Using Sentinel-2 Indicators and YOLOv8-Based Dropping Image Classification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422471" y="6926319"/>
            <a:ext cx="2003612" cy="786498"/>
            <a:chOff x="0" y="0"/>
            <a:chExt cx="2098984" cy="8239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8984" cy="823935"/>
            </a:xfrm>
            <a:custGeom>
              <a:avLst/>
              <a:gdLst/>
              <a:ahLst/>
              <a:cxnLst/>
              <a:rect r="r" b="b" t="t" l="l"/>
              <a:pathLst>
                <a:path h="823935" w="2098984">
                  <a:moveTo>
                    <a:pt x="386398" y="0"/>
                  </a:moveTo>
                  <a:lnTo>
                    <a:pt x="1712586" y="0"/>
                  </a:lnTo>
                  <a:cubicBezTo>
                    <a:pt x="1925987" y="0"/>
                    <a:pt x="2098984" y="172996"/>
                    <a:pt x="2098984" y="386398"/>
                  </a:cubicBezTo>
                  <a:lnTo>
                    <a:pt x="2098984" y="437537"/>
                  </a:lnTo>
                  <a:cubicBezTo>
                    <a:pt x="2098984" y="540016"/>
                    <a:pt x="2058274" y="638298"/>
                    <a:pt x="1985811" y="710762"/>
                  </a:cubicBezTo>
                  <a:cubicBezTo>
                    <a:pt x="1913347" y="783226"/>
                    <a:pt x="1815065" y="823935"/>
                    <a:pt x="1712586" y="823935"/>
                  </a:cubicBezTo>
                  <a:lnTo>
                    <a:pt x="386398" y="823935"/>
                  </a:lnTo>
                  <a:cubicBezTo>
                    <a:pt x="172996" y="823935"/>
                    <a:pt x="0" y="650939"/>
                    <a:pt x="0" y="437537"/>
                  </a:cubicBezTo>
                  <a:lnTo>
                    <a:pt x="0" y="386398"/>
                  </a:lnTo>
                  <a:cubicBezTo>
                    <a:pt x="0" y="172996"/>
                    <a:pt x="172996" y="0"/>
                    <a:pt x="386398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98984" cy="862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422471" y="7112892"/>
            <a:ext cx="2003612" cy="33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  <a:spcBef>
                <a:spcPct val="0"/>
              </a:spcBef>
            </a:pPr>
            <a:r>
              <a:rPr lang="en-US" b="true" sz="18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CSJ1/2025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81051" y="8317608"/>
            <a:ext cx="4329039" cy="37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"/>
              </a:lnSpc>
              <a:spcBef>
                <a:spcPct val="0"/>
              </a:spcBef>
            </a:pPr>
            <a:r>
              <a:rPr lang="en-US" b="true" sz="210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IYUNDHU KENNEDY KISAME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09613" y="9108884"/>
            <a:ext cx="3382012" cy="37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3"/>
              </a:lnSpc>
              <a:spcBef>
                <a:spcPct val="0"/>
              </a:spcBef>
            </a:pPr>
            <a:r>
              <a:rPr lang="en-US" b="true" sz="210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MUKISA RACHAEL JOVIA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24365" y="8246217"/>
            <a:ext cx="3382012" cy="37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3"/>
              </a:lnSpc>
              <a:spcBef>
                <a:spcPct val="0"/>
              </a:spcBef>
            </a:pPr>
            <a:r>
              <a:rPr lang="en-US" b="true" sz="210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NSUBUGA JEREMIAH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62465" y="9154648"/>
            <a:ext cx="3382012" cy="37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3"/>
              </a:lnSpc>
              <a:spcBef>
                <a:spcPct val="0"/>
              </a:spcBef>
            </a:pPr>
            <a:r>
              <a:rPr lang="en-US" b="true" sz="210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YIGA MARVIN ISAAC</a:t>
            </a:r>
          </a:p>
        </p:txBody>
      </p:sp>
      <p:sp>
        <p:nvSpPr>
          <p:cNvPr name="AutoShape 37" id="37"/>
          <p:cNvSpPr/>
          <p:nvPr/>
        </p:nvSpPr>
        <p:spPr>
          <a:xfrm>
            <a:off x="9503732" y="8182004"/>
            <a:ext cx="0" cy="1643933"/>
          </a:xfrm>
          <a:prstGeom prst="line">
            <a:avLst/>
          </a:prstGeom>
          <a:ln cap="flat" w="38100">
            <a:solidFill>
              <a:srgbClr val="25411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8314040" y="2497113"/>
            <a:ext cx="1898560" cy="1304496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8316800" y="6477427"/>
            <a:ext cx="1893040" cy="1312494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8532606" y="4267293"/>
            <a:ext cx="2635124" cy="563602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530566" y="5475506"/>
            <a:ext cx="2639203" cy="54418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792023" y="1731496"/>
            <a:ext cx="6824008" cy="68240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452411" y="2489522"/>
            <a:ext cx="5862965" cy="5855636"/>
          </a:xfrm>
          <a:custGeom>
            <a:avLst/>
            <a:gdLst/>
            <a:ahLst/>
            <a:cxnLst/>
            <a:rect r="r" b="b" t="t" l="l"/>
            <a:pathLst>
              <a:path h="5855636" w="5862965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315717" y="2255191"/>
            <a:ext cx="5776619" cy="577661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122788" y="4757122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169770" y="4757122"/>
            <a:ext cx="1011607" cy="101160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274438" y="3447548"/>
            <a:ext cx="1859178" cy="2429163"/>
          </a:xfrm>
          <a:custGeom>
            <a:avLst/>
            <a:gdLst/>
            <a:ahLst/>
            <a:cxnLst/>
            <a:rect r="r" b="b" t="t" l="l"/>
            <a:pathLst>
              <a:path h="2429163" w="1859178">
                <a:moveTo>
                  <a:pt x="0" y="0"/>
                </a:moveTo>
                <a:lnTo>
                  <a:pt x="1859178" y="0"/>
                </a:lnTo>
                <a:lnTo>
                  <a:pt x="1859178" y="2429163"/>
                </a:lnTo>
                <a:lnTo>
                  <a:pt x="0" y="2429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409405" y="5926746"/>
            <a:ext cx="3948976" cy="82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40074" y="2231679"/>
            <a:ext cx="2736433" cy="156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68"/>
              </a:lnSpc>
              <a:spcBef>
                <a:spcPct val="0"/>
              </a:spcBef>
            </a:pPr>
            <a:r>
              <a:rPr lang="en-US" b="true" sz="8691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83%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12600" y="3959542"/>
            <a:ext cx="6291447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 poultry farmers detect disease only after visible clinical symptoms emerge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98732" y="5331596"/>
            <a:ext cx="7646572" cy="129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29" indent="-263914" lvl="1">
              <a:lnSpc>
                <a:spcPts val="3422"/>
              </a:lnSpc>
              <a:buFont typeface="Arial"/>
              <a:buChar char="•"/>
            </a:pPr>
            <a:r>
              <a:rPr lang="en-US" b="true" sz="24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lack of a system that provides early poultry  disease risk warnings using environmental data.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45227" y="7195728"/>
            <a:ext cx="7646572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29" indent="-263914" lvl="1">
              <a:lnSpc>
                <a:spcPts val="3422"/>
              </a:lnSpc>
              <a:buFont typeface="Arial"/>
              <a:buChar char="•"/>
            </a:pPr>
            <a:r>
              <a:rPr lang="en-US" b="true" sz="24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image diagnosis exists in research but isn't deployed for Ugandan smallholders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3983" y="2453514"/>
            <a:ext cx="4203560" cy="1272624"/>
            <a:chOff x="0" y="0"/>
            <a:chExt cx="860407" cy="2604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0407" cy="260488"/>
            </a:xfrm>
            <a:custGeom>
              <a:avLst/>
              <a:gdLst/>
              <a:ahLst/>
              <a:cxnLst/>
              <a:rect r="r" b="b" t="t" l="l"/>
              <a:pathLst>
                <a:path h="260488" w="860407">
                  <a:moveTo>
                    <a:pt x="130244" y="0"/>
                  </a:moveTo>
                  <a:lnTo>
                    <a:pt x="730163" y="0"/>
                  </a:lnTo>
                  <a:cubicBezTo>
                    <a:pt x="802095" y="0"/>
                    <a:pt x="860407" y="58312"/>
                    <a:pt x="860407" y="130244"/>
                  </a:cubicBezTo>
                  <a:lnTo>
                    <a:pt x="860407" y="130244"/>
                  </a:lnTo>
                  <a:cubicBezTo>
                    <a:pt x="860407" y="164787"/>
                    <a:pt x="846685" y="197915"/>
                    <a:pt x="822260" y="222340"/>
                  </a:cubicBezTo>
                  <a:cubicBezTo>
                    <a:pt x="797834" y="246766"/>
                    <a:pt x="764706" y="260488"/>
                    <a:pt x="730163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60407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842984" y="3089826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842984" y="7197174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5259019" y="-2149242"/>
            <a:ext cx="13020149" cy="14585483"/>
            <a:chOff x="0" y="0"/>
            <a:chExt cx="725569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5569" cy="812800"/>
            </a:xfrm>
            <a:custGeom>
              <a:avLst/>
              <a:gdLst/>
              <a:ahLst/>
              <a:cxnLst/>
              <a:rect r="r" b="b" t="t" l="l"/>
              <a:pathLst>
                <a:path h="812800" w="725569">
                  <a:moveTo>
                    <a:pt x="362785" y="0"/>
                  </a:moveTo>
                  <a:cubicBezTo>
                    <a:pt x="162424" y="0"/>
                    <a:pt x="0" y="181951"/>
                    <a:pt x="0" y="406400"/>
                  </a:cubicBezTo>
                  <a:cubicBezTo>
                    <a:pt x="0" y="630849"/>
                    <a:pt x="162424" y="812800"/>
                    <a:pt x="362785" y="812800"/>
                  </a:cubicBezTo>
                  <a:cubicBezTo>
                    <a:pt x="563145" y="812800"/>
                    <a:pt x="725569" y="630849"/>
                    <a:pt x="725569" y="406400"/>
                  </a:cubicBezTo>
                  <a:cubicBezTo>
                    <a:pt x="725569" y="181951"/>
                    <a:pt x="563145" y="0"/>
                    <a:pt x="362785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68022" y="38100"/>
              <a:ext cx="58952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3616796" y="-529054"/>
            <a:ext cx="10942425" cy="12515707"/>
          </a:xfrm>
          <a:custGeom>
            <a:avLst/>
            <a:gdLst/>
            <a:ahLst/>
            <a:cxnLst/>
            <a:rect r="r" b="b" t="t" l="l"/>
            <a:pathLst>
              <a:path h="12515707" w="10942425">
                <a:moveTo>
                  <a:pt x="0" y="0"/>
                </a:moveTo>
                <a:lnTo>
                  <a:pt x="10942425" y="0"/>
                </a:lnTo>
                <a:lnTo>
                  <a:pt x="10942425" y="12515706"/>
                </a:lnTo>
                <a:lnTo>
                  <a:pt x="0" y="12515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52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4650821" y="-1139079"/>
            <a:ext cx="11566875" cy="12346817"/>
            <a:chOff x="0" y="0"/>
            <a:chExt cx="761456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1456" cy="812800"/>
            </a:xfrm>
            <a:custGeom>
              <a:avLst/>
              <a:gdLst/>
              <a:ahLst/>
              <a:cxnLst/>
              <a:rect r="r" b="b" t="t" l="l"/>
              <a:pathLst>
                <a:path h="812800" w="761456">
                  <a:moveTo>
                    <a:pt x="380728" y="0"/>
                  </a:moveTo>
                  <a:cubicBezTo>
                    <a:pt x="170458" y="0"/>
                    <a:pt x="0" y="181951"/>
                    <a:pt x="0" y="406400"/>
                  </a:cubicBezTo>
                  <a:cubicBezTo>
                    <a:pt x="0" y="630849"/>
                    <a:pt x="170458" y="812800"/>
                    <a:pt x="380728" y="812800"/>
                  </a:cubicBezTo>
                  <a:cubicBezTo>
                    <a:pt x="590998" y="812800"/>
                    <a:pt x="761456" y="630849"/>
                    <a:pt x="761456" y="406400"/>
                  </a:cubicBezTo>
                  <a:cubicBezTo>
                    <a:pt x="761456" y="181951"/>
                    <a:pt x="590998" y="0"/>
                    <a:pt x="3807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1386" y="38100"/>
              <a:ext cx="618683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761130" y="4154763"/>
            <a:ext cx="10205584" cy="566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2355" spc="70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Specific Objectives</a:t>
            </a:r>
          </a:p>
          <a:p>
            <a:pPr algn="l">
              <a:lnSpc>
                <a:spcPts val="3744"/>
              </a:lnSpc>
            </a:pPr>
          </a:p>
          <a:p>
            <a:pPr algn="l" marL="508474" indent="-254237" lvl="1">
              <a:lnSpc>
                <a:spcPts val="3744"/>
              </a:lnSpc>
              <a:buFont typeface="Arial"/>
              <a:buChar char="•"/>
            </a:pPr>
            <a:r>
              <a:rPr lang="en-US" b="true" sz="2355" spc="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 satellite-based environmental risk indicators.</a:t>
            </a:r>
          </a:p>
          <a:p>
            <a:pPr algn="l">
              <a:lnSpc>
                <a:spcPts val="3744"/>
              </a:lnSpc>
            </a:pPr>
          </a:p>
          <a:p>
            <a:pPr algn="l" marL="508474" indent="-254237" lvl="1">
              <a:lnSpc>
                <a:spcPts val="3744"/>
              </a:lnSpc>
              <a:buFont typeface="Arial"/>
              <a:buChar char="•"/>
            </a:pPr>
            <a:r>
              <a:rPr lang="en-US" b="true" sz="2355" spc="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poultry disease risk scores using expert rules.</a:t>
            </a:r>
          </a:p>
          <a:p>
            <a:pPr algn="l">
              <a:lnSpc>
                <a:spcPts val="3744"/>
              </a:lnSpc>
            </a:pPr>
          </a:p>
          <a:p>
            <a:pPr algn="l" marL="508474" indent="-254237" lvl="1">
              <a:lnSpc>
                <a:spcPts val="3744"/>
              </a:lnSpc>
              <a:buFont typeface="Arial"/>
              <a:buChar char="•"/>
            </a:pPr>
            <a:r>
              <a:rPr lang="en-US" b="true" sz="2355" spc="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 an AI model for poultry disease detection.</a:t>
            </a:r>
          </a:p>
          <a:p>
            <a:pPr algn="l">
              <a:lnSpc>
                <a:spcPts val="3744"/>
              </a:lnSpc>
            </a:pPr>
          </a:p>
          <a:p>
            <a:pPr algn="l" marL="508474" indent="-254237" lvl="1">
              <a:lnSpc>
                <a:spcPts val="3744"/>
              </a:lnSpc>
              <a:buFont typeface="Arial"/>
              <a:buChar char="•"/>
            </a:pPr>
            <a:r>
              <a:rPr lang="en-US" b="true" sz="2355" spc="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Integrate all components through a FastAPI backend.</a:t>
            </a:r>
          </a:p>
          <a:p>
            <a:pPr algn="l">
              <a:lnSpc>
                <a:spcPts val="3744"/>
              </a:lnSpc>
            </a:pPr>
          </a:p>
          <a:p>
            <a:pPr algn="l" marL="508474" indent="-254237" lvl="1">
              <a:lnSpc>
                <a:spcPts val="3744"/>
              </a:lnSpc>
              <a:buFont typeface="Arial"/>
              <a:buChar char="•"/>
            </a:pPr>
            <a:r>
              <a:rPr lang="en-US" b="true" sz="2355" spc="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Assess usability with Ugandan poultry farmers.</a:t>
            </a:r>
          </a:p>
          <a:p>
            <a:pPr algn="l">
              <a:lnSpc>
                <a:spcPts val="3744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0708" y="3288105"/>
            <a:ext cx="2440694" cy="2440694"/>
          </a:xfrm>
          <a:custGeom>
            <a:avLst/>
            <a:gdLst/>
            <a:ahLst/>
            <a:cxnLst/>
            <a:rect r="r" b="b" t="t" l="l"/>
            <a:pathLst>
              <a:path h="2440694" w="2440694">
                <a:moveTo>
                  <a:pt x="0" y="0"/>
                </a:moveTo>
                <a:lnTo>
                  <a:pt x="2440694" y="0"/>
                </a:lnTo>
                <a:lnTo>
                  <a:pt x="2440694" y="2440694"/>
                </a:lnTo>
                <a:lnTo>
                  <a:pt x="0" y="2440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9213" y="3974079"/>
            <a:ext cx="6240968" cy="9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2"/>
              </a:lnSpc>
              <a:spcBef>
                <a:spcPct val="0"/>
              </a:spcBef>
            </a:pPr>
            <a:r>
              <a:rPr lang="en-US" b="true" sz="5344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 Objectives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15308" y="2192592"/>
            <a:ext cx="10628260" cy="145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451" spc="73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Main Objective</a:t>
            </a:r>
          </a:p>
          <a:p>
            <a:pPr algn="l">
              <a:lnSpc>
                <a:spcPts val="3897"/>
              </a:lnSpc>
            </a:pPr>
            <a:r>
              <a:rPr lang="en-US" b="true" sz="2451" spc="7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Design and deploy an integrated satellite imagery and AI-based system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3983" y="2453514"/>
            <a:ext cx="4203560" cy="1272624"/>
            <a:chOff x="0" y="0"/>
            <a:chExt cx="860407" cy="2604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0407" cy="260488"/>
            </a:xfrm>
            <a:custGeom>
              <a:avLst/>
              <a:gdLst/>
              <a:ahLst/>
              <a:cxnLst/>
              <a:rect r="r" b="b" t="t" l="l"/>
              <a:pathLst>
                <a:path h="260488" w="860407">
                  <a:moveTo>
                    <a:pt x="130244" y="0"/>
                  </a:moveTo>
                  <a:lnTo>
                    <a:pt x="730163" y="0"/>
                  </a:lnTo>
                  <a:cubicBezTo>
                    <a:pt x="802095" y="0"/>
                    <a:pt x="860407" y="58312"/>
                    <a:pt x="860407" y="130244"/>
                  </a:cubicBezTo>
                  <a:lnTo>
                    <a:pt x="860407" y="130244"/>
                  </a:lnTo>
                  <a:cubicBezTo>
                    <a:pt x="860407" y="164787"/>
                    <a:pt x="846685" y="197915"/>
                    <a:pt x="822260" y="222340"/>
                  </a:cubicBezTo>
                  <a:cubicBezTo>
                    <a:pt x="797834" y="246766"/>
                    <a:pt x="764706" y="260488"/>
                    <a:pt x="730163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60407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842984" y="3089826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842984" y="5143500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842984" y="7197174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516964" y="5195324"/>
            <a:ext cx="218342" cy="21834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6964" y="7495788"/>
            <a:ext cx="218342" cy="21834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5259019" y="-2149242"/>
            <a:ext cx="14585483" cy="1458548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3616796" y="-529054"/>
            <a:ext cx="12531371" cy="12515707"/>
          </a:xfrm>
          <a:custGeom>
            <a:avLst/>
            <a:gdLst/>
            <a:ahLst/>
            <a:cxnLst/>
            <a:rect r="r" b="b" t="t" l="l"/>
            <a:pathLst>
              <a:path h="12515707" w="12531371">
                <a:moveTo>
                  <a:pt x="0" y="0"/>
                </a:moveTo>
                <a:lnTo>
                  <a:pt x="12531370" y="0"/>
                </a:lnTo>
                <a:lnTo>
                  <a:pt x="12531370" y="12515706"/>
                </a:lnTo>
                <a:lnTo>
                  <a:pt x="0" y="12515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-4650821" y="-1139079"/>
            <a:ext cx="12346817" cy="1234681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09511" y="3887061"/>
            <a:ext cx="2776656" cy="2731220"/>
          </a:xfrm>
          <a:custGeom>
            <a:avLst/>
            <a:gdLst/>
            <a:ahLst/>
            <a:cxnLst/>
            <a:rect r="r" b="b" t="t" l="l"/>
            <a:pathLst>
              <a:path h="2731220" w="2776656">
                <a:moveTo>
                  <a:pt x="0" y="0"/>
                </a:moveTo>
                <a:lnTo>
                  <a:pt x="2776656" y="0"/>
                </a:lnTo>
                <a:lnTo>
                  <a:pt x="2776656" y="2731220"/>
                </a:lnTo>
                <a:lnTo>
                  <a:pt x="0" y="2731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478864" y="2853149"/>
            <a:ext cx="11099672" cy="1127446"/>
            <a:chOff x="0" y="0"/>
            <a:chExt cx="14799563" cy="150326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170008"/>
              <a:ext cx="291123" cy="291123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674174" y="-95250"/>
              <a:ext cx="14125389" cy="1598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1"/>
                </a:lnSpc>
              </a:pPr>
              <a:r>
                <a:rPr lang="en-US" b="true" sz="2044" spc="6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Lack of a mobile-accessible system that uses satellite </a:t>
              </a:r>
            </a:p>
            <a:p>
              <a:pPr algn="l">
                <a:lnSpc>
                  <a:spcPts val="3251"/>
                </a:lnSpc>
              </a:pPr>
              <a:r>
                <a:rPr lang="en-US" b="true" sz="2044" spc="6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environmental data to provide district-level </a:t>
              </a:r>
            </a:p>
            <a:p>
              <a:pPr algn="l">
                <a:lnSpc>
                  <a:spcPts val="3251"/>
                </a:lnSpc>
              </a:pPr>
              <a:r>
                <a:rPr lang="en-US" b="true" sz="2044" spc="6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poultry disease risk forecasts for smallholder farmers.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64447" y="4641901"/>
            <a:ext cx="5004535" cy="95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2"/>
              </a:lnSpc>
              <a:spcBef>
                <a:spcPct val="0"/>
              </a:spcBef>
            </a:pPr>
            <a:r>
              <a:rPr lang="en-US" b="true" sz="5344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The Gaps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97231" y="4977179"/>
            <a:ext cx="8022498" cy="109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2"/>
              </a:lnSpc>
            </a:pPr>
            <a:r>
              <a:rPr lang="en-US" b="true" sz="2044" spc="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poultry disease detection models have not been adequately trained and evaluated using field-captured poultry dropping images from sub-Saharan Africa.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45186" y="7140024"/>
            <a:ext cx="8022498" cy="109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2"/>
              </a:lnSpc>
            </a:pPr>
            <a:r>
              <a:rPr lang="en-US" b="true" sz="20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mobile application combines environmental risk forecasting and AI-based poultry disease diagnosis in a single platform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02224" y="-6961918"/>
            <a:ext cx="12883553" cy="128835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949019" y="-5010643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8" y="0"/>
                </a:lnTo>
                <a:lnTo>
                  <a:pt x="11069128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690946" y="-5453054"/>
            <a:ext cx="10906108" cy="109061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1628" y="5648297"/>
            <a:ext cx="5139841" cy="2819922"/>
            <a:chOff x="0" y="0"/>
            <a:chExt cx="1052050" cy="5771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01834" y="618174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07021" y="6140710"/>
            <a:ext cx="1011607" cy="101160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09416" y="6140710"/>
            <a:ext cx="5139841" cy="2819922"/>
            <a:chOff x="0" y="0"/>
            <a:chExt cx="1052050" cy="5771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0222" y="6448518"/>
            <a:ext cx="1011607" cy="101160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7120745" y="6765524"/>
            <a:ext cx="355150" cy="359728"/>
          </a:xfrm>
          <a:custGeom>
            <a:avLst/>
            <a:gdLst/>
            <a:ahLst/>
            <a:cxnLst/>
            <a:rect r="r" b="b" t="t" l="l"/>
            <a:pathLst>
              <a:path h="359728" w="355150">
                <a:moveTo>
                  <a:pt x="0" y="0"/>
                </a:moveTo>
                <a:lnTo>
                  <a:pt x="355150" y="0"/>
                </a:lnTo>
                <a:lnTo>
                  <a:pt x="355150" y="359728"/>
                </a:lnTo>
                <a:lnTo>
                  <a:pt x="0" y="35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146531" y="5648297"/>
            <a:ext cx="5139841" cy="2819922"/>
            <a:chOff x="0" y="0"/>
            <a:chExt cx="1052050" cy="5771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2745315" y="618174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2721377" y="6140710"/>
            <a:ext cx="1011607" cy="101160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111074" y="6441776"/>
            <a:ext cx="374951" cy="291056"/>
          </a:xfrm>
          <a:custGeom>
            <a:avLst/>
            <a:gdLst/>
            <a:ahLst/>
            <a:cxnLst/>
            <a:rect r="r" b="b" t="t" l="l"/>
            <a:pathLst>
              <a:path h="291056" w="374951">
                <a:moveTo>
                  <a:pt x="0" y="0"/>
                </a:moveTo>
                <a:lnTo>
                  <a:pt x="374951" y="0"/>
                </a:lnTo>
                <a:lnTo>
                  <a:pt x="374951" y="291056"/>
                </a:lnTo>
                <a:lnTo>
                  <a:pt x="0" y="291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024014" y="6448518"/>
            <a:ext cx="406334" cy="395991"/>
          </a:xfrm>
          <a:custGeom>
            <a:avLst/>
            <a:gdLst/>
            <a:ahLst/>
            <a:cxnLst/>
            <a:rect r="r" b="b" t="t" l="l"/>
            <a:pathLst>
              <a:path h="395991" w="406334">
                <a:moveTo>
                  <a:pt x="0" y="0"/>
                </a:moveTo>
                <a:lnTo>
                  <a:pt x="406334" y="0"/>
                </a:lnTo>
                <a:lnTo>
                  <a:pt x="406334" y="395991"/>
                </a:lnTo>
                <a:lnTo>
                  <a:pt x="0" y="3959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841829" y="635709"/>
            <a:ext cx="2031215" cy="2057400"/>
          </a:xfrm>
          <a:custGeom>
            <a:avLst/>
            <a:gdLst/>
            <a:ahLst/>
            <a:cxnLst/>
            <a:rect r="r" b="b" t="t" l="l"/>
            <a:pathLst>
              <a:path h="2057400" w="2031215">
                <a:moveTo>
                  <a:pt x="0" y="0"/>
                </a:moveTo>
                <a:lnTo>
                  <a:pt x="2031215" y="0"/>
                </a:lnTo>
                <a:lnTo>
                  <a:pt x="203121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7674380" y="8710688"/>
            <a:ext cx="442747" cy="51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46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6852695" y="2879531"/>
            <a:ext cx="4582611" cy="1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456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</a:t>
            </a:r>
          </a:p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33313" y="6064510"/>
            <a:ext cx="4190026" cy="87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Satellite-based disease risk forecasting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04520" y="6585045"/>
            <a:ext cx="3549836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Faeacal daigonosis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646515" y="7236219"/>
            <a:ext cx="2363995" cy="8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YOLOVn8 Algorithm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69147" y="6105546"/>
            <a:ext cx="2063297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Chatbot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169147" y="6737481"/>
            <a:ext cx="2363995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AL assistant for farmers to chat with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5713" y="4924642"/>
            <a:ext cx="1011607" cy="101160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028457" y="2454705"/>
            <a:ext cx="374951" cy="291056"/>
          </a:xfrm>
          <a:custGeom>
            <a:avLst/>
            <a:gdLst/>
            <a:ahLst/>
            <a:cxnLst/>
            <a:rect r="r" b="b" t="t" l="l"/>
            <a:pathLst>
              <a:path h="291056" w="374951">
                <a:moveTo>
                  <a:pt x="0" y="0"/>
                </a:moveTo>
                <a:lnTo>
                  <a:pt x="374952" y="0"/>
                </a:lnTo>
                <a:lnTo>
                  <a:pt x="374952" y="291056"/>
                </a:lnTo>
                <a:lnTo>
                  <a:pt x="0" y="291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467690" y="6244058"/>
            <a:ext cx="406334" cy="395991"/>
          </a:xfrm>
          <a:custGeom>
            <a:avLst/>
            <a:gdLst/>
            <a:ahLst/>
            <a:cxnLst/>
            <a:rect r="r" b="b" t="t" l="l"/>
            <a:pathLst>
              <a:path h="395991" w="406334">
                <a:moveTo>
                  <a:pt x="0" y="0"/>
                </a:moveTo>
                <a:lnTo>
                  <a:pt x="406334" y="0"/>
                </a:lnTo>
                <a:lnTo>
                  <a:pt x="406334" y="395991"/>
                </a:lnTo>
                <a:lnTo>
                  <a:pt x="0" y="3959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48259" y="5884330"/>
            <a:ext cx="355150" cy="359728"/>
          </a:xfrm>
          <a:custGeom>
            <a:avLst/>
            <a:gdLst/>
            <a:ahLst/>
            <a:cxnLst/>
            <a:rect r="r" b="b" t="t" l="l"/>
            <a:pathLst>
              <a:path h="359728" w="355150">
                <a:moveTo>
                  <a:pt x="0" y="0"/>
                </a:moveTo>
                <a:lnTo>
                  <a:pt x="355150" y="0"/>
                </a:lnTo>
                <a:lnTo>
                  <a:pt x="355150" y="359728"/>
                </a:lnTo>
                <a:lnTo>
                  <a:pt x="0" y="3597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735070" y="1642690"/>
            <a:ext cx="1114987" cy="2523633"/>
          </a:xfrm>
          <a:custGeom>
            <a:avLst/>
            <a:gdLst/>
            <a:ahLst/>
            <a:cxnLst/>
            <a:rect r="r" b="b" t="t" l="l"/>
            <a:pathLst>
              <a:path h="2523633" w="1114987">
                <a:moveTo>
                  <a:pt x="0" y="0"/>
                </a:moveTo>
                <a:lnTo>
                  <a:pt x="1114987" y="0"/>
                </a:lnTo>
                <a:lnTo>
                  <a:pt x="1114987" y="2523633"/>
                </a:lnTo>
                <a:lnTo>
                  <a:pt x="0" y="25236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154289" y="4152542"/>
            <a:ext cx="3948976" cy="16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The Architecture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74380" y="8710688"/>
            <a:ext cx="442747" cy="51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46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707021" y="349380"/>
            <a:ext cx="6012612" cy="3298759"/>
            <a:chOff x="0" y="0"/>
            <a:chExt cx="8016816" cy="439834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8016816" cy="4398345"/>
              <a:chOff x="0" y="0"/>
              <a:chExt cx="1052050" cy="57719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52050" cy="577197"/>
              </a:xfrm>
              <a:custGeom>
                <a:avLst/>
                <a:gdLst/>
                <a:ahLst/>
                <a:cxnLst/>
                <a:rect r="r" b="b" t="t" l="l"/>
                <a:pathLst>
                  <a:path h="577197" w="1052050">
                    <a:moveTo>
                      <a:pt x="75313" y="0"/>
                    </a:moveTo>
                    <a:lnTo>
                      <a:pt x="976737" y="0"/>
                    </a:lnTo>
                    <a:cubicBezTo>
                      <a:pt x="1018332" y="0"/>
                      <a:pt x="1052050" y="33719"/>
                      <a:pt x="1052050" y="75313"/>
                    </a:cubicBezTo>
                    <a:lnTo>
                      <a:pt x="1052050" y="501884"/>
                    </a:lnTo>
                    <a:cubicBezTo>
                      <a:pt x="1052050" y="543478"/>
                      <a:pt x="1018332" y="577197"/>
                      <a:pt x="976737" y="577197"/>
                    </a:cubicBezTo>
                    <a:lnTo>
                      <a:pt x="75313" y="577197"/>
                    </a:lnTo>
                    <a:cubicBezTo>
                      <a:pt x="33719" y="577197"/>
                      <a:pt x="0" y="543478"/>
                      <a:pt x="0" y="501884"/>
                    </a:cubicBezTo>
                    <a:lnTo>
                      <a:pt x="0" y="75313"/>
                    </a:lnTo>
                    <a:cubicBezTo>
                      <a:pt x="0" y="33719"/>
                      <a:pt x="33719" y="0"/>
                      <a:pt x="75313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52050" cy="615297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685745" y="310926"/>
              <a:ext cx="3687217" cy="647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03"/>
                </a:lnSpc>
                <a:spcBef>
                  <a:spcPct val="0"/>
                </a:spcBef>
              </a:pPr>
              <a:r>
                <a:rPr lang="en-US" b="true" sz="2859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Sources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11784" y="1069791"/>
              <a:ext cx="7264763" cy="32514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3459" indent="-251729" lvl="1">
                <a:lnSpc>
                  <a:spcPts val="3264"/>
                </a:lnSpc>
                <a:buFont typeface="Arial"/>
                <a:buChar char="•"/>
              </a:pPr>
              <a:r>
                <a:rPr lang="en-US" b="true" sz="2331">
                  <a:solidFill>
                    <a:srgbClr val="1F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13,000 labelled dropping images across 4 classes</a:t>
              </a:r>
            </a:p>
            <a:p>
              <a:pPr algn="l">
                <a:lnSpc>
                  <a:spcPts val="3264"/>
                </a:lnSpc>
              </a:pPr>
            </a:p>
            <a:p>
              <a:pPr algn="l" marL="503459" indent="-251729" lvl="1">
                <a:lnSpc>
                  <a:spcPts val="3264"/>
                </a:lnSpc>
                <a:buFont typeface="Arial"/>
                <a:buChar char="•"/>
              </a:pPr>
              <a:r>
                <a:rPr lang="en-US" b="true" sz="2331">
                  <a:solidFill>
                    <a:srgbClr val="1F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Sentinel-2 + MODIS via Google Earth Engine, plus GAUL 2024 + JRC water bodies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35713" y="4421130"/>
            <a:ext cx="6098104" cy="3120975"/>
            <a:chOff x="0" y="0"/>
            <a:chExt cx="8130806" cy="41613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130806" cy="4161300"/>
              <a:chOff x="0" y="0"/>
              <a:chExt cx="1127791" cy="57719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127791" cy="577197"/>
              </a:xfrm>
              <a:custGeom>
                <a:avLst/>
                <a:gdLst/>
                <a:ahLst/>
                <a:cxnLst/>
                <a:rect r="r" b="b" t="t" l="l"/>
                <a:pathLst>
                  <a:path h="577197" w="1127791">
                    <a:moveTo>
                      <a:pt x="70255" y="0"/>
                    </a:moveTo>
                    <a:lnTo>
                      <a:pt x="1057536" y="0"/>
                    </a:lnTo>
                    <a:cubicBezTo>
                      <a:pt x="1076168" y="0"/>
                      <a:pt x="1094038" y="7402"/>
                      <a:pt x="1107213" y="20577"/>
                    </a:cubicBezTo>
                    <a:cubicBezTo>
                      <a:pt x="1120389" y="33753"/>
                      <a:pt x="1127791" y="51622"/>
                      <a:pt x="1127791" y="70255"/>
                    </a:cubicBezTo>
                    <a:lnTo>
                      <a:pt x="1127791" y="506942"/>
                    </a:lnTo>
                    <a:cubicBezTo>
                      <a:pt x="1127791" y="525575"/>
                      <a:pt x="1120389" y="543444"/>
                      <a:pt x="1107213" y="556620"/>
                    </a:cubicBezTo>
                    <a:cubicBezTo>
                      <a:pt x="1094038" y="569795"/>
                      <a:pt x="1076168" y="577197"/>
                      <a:pt x="1057536" y="577197"/>
                    </a:cubicBezTo>
                    <a:lnTo>
                      <a:pt x="70255" y="577197"/>
                    </a:lnTo>
                    <a:cubicBezTo>
                      <a:pt x="51622" y="577197"/>
                      <a:pt x="33753" y="569795"/>
                      <a:pt x="20577" y="556620"/>
                    </a:cubicBezTo>
                    <a:cubicBezTo>
                      <a:pt x="7402" y="543444"/>
                      <a:pt x="0" y="525575"/>
                      <a:pt x="0" y="506942"/>
                    </a:cubicBezTo>
                    <a:lnTo>
                      <a:pt x="0" y="70255"/>
                    </a:lnTo>
                    <a:cubicBezTo>
                      <a:pt x="0" y="51622"/>
                      <a:pt x="7402" y="33753"/>
                      <a:pt x="20577" y="20577"/>
                    </a:cubicBezTo>
                    <a:cubicBezTo>
                      <a:pt x="33753" y="7402"/>
                      <a:pt x="51622" y="0"/>
                      <a:pt x="70255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127791" cy="615297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707903" y="855971"/>
              <a:ext cx="5492939" cy="617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8"/>
                </a:lnSpc>
                <a:spcBef>
                  <a:spcPct val="0"/>
                </a:spcBef>
              </a:pPr>
              <a:r>
                <a:rPr lang="en-US" b="true" sz="2705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 Processing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802901" y="1757535"/>
              <a:ext cx="7302943" cy="570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5684" indent="-262842" lvl="1">
                <a:lnSpc>
                  <a:spcPts val="3408"/>
                </a:lnSpc>
                <a:buFont typeface="Arial"/>
                <a:buChar char="•"/>
              </a:pPr>
              <a:r>
                <a:rPr lang="en-US" b="true" sz="2434">
                  <a:solidFill>
                    <a:srgbClr val="1F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YOLOv8n training in PyTorch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90208" y="5345996"/>
            <a:ext cx="6775131" cy="3032815"/>
            <a:chOff x="0" y="0"/>
            <a:chExt cx="9033508" cy="4043754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7370507" cy="4043754"/>
              <a:chOff x="0" y="0"/>
              <a:chExt cx="1052050" cy="57719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52050" cy="577197"/>
              </a:xfrm>
              <a:custGeom>
                <a:avLst/>
                <a:gdLst/>
                <a:ahLst/>
                <a:cxnLst/>
                <a:rect r="r" b="b" t="t" l="l"/>
                <a:pathLst>
                  <a:path h="577197" w="1052050">
                    <a:moveTo>
                      <a:pt x="75313" y="0"/>
                    </a:moveTo>
                    <a:lnTo>
                      <a:pt x="976737" y="0"/>
                    </a:lnTo>
                    <a:cubicBezTo>
                      <a:pt x="1018332" y="0"/>
                      <a:pt x="1052050" y="33719"/>
                      <a:pt x="1052050" y="75313"/>
                    </a:cubicBezTo>
                    <a:lnTo>
                      <a:pt x="1052050" y="501884"/>
                    </a:lnTo>
                    <a:cubicBezTo>
                      <a:pt x="1052050" y="543478"/>
                      <a:pt x="1018332" y="577197"/>
                      <a:pt x="976737" y="577197"/>
                    </a:cubicBezTo>
                    <a:lnTo>
                      <a:pt x="75313" y="577197"/>
                    </a:lnTo>
                    <a:cubicBezTo>
                      <a:pt x="33719" y="577197"/>
                      <a:pt x="0" y="543478"/>
                      <a:pt x="0" y="501884"/>
                    </a:cubicBezTo>
                    <a:lnTo>
                      <a:pt x="0" y="75313"/>
                    </a:lnTo>
                    <a:cubicBezTo>
                      <a:pt x="0" y="33719"/>
                      <a:pt x="33719" y="0"/>
                      <a:pt x="75313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254117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052050" cy="615297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2053265" y="225847"/>
              <a:ext cx="6980243" cy="592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1"/>
                </a:lnSpc>
                <a:spcBef>
                  <a:spcPct val="0"/>
                </a:spcBef>
              </a:pPr>
              <a:r>
                <a:rPr lang="en-US" b="true" sz="2629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Mobile App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94540" y="1090364"/>
              <a:ext cx="6581426" cy="2696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7958" indent="-208979" lvl="1">
                <a:lnSpc>
                  <a:spcPts val="2710"/>
                </a:lnSpc>
                <a:buFont typeface="Arial"/>
                <a:buChar char="•"/>
              </a:pPr>
              <a:r>
                <a:rPr lang="en-US" b="true" sz="1935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Flutter App </a:t>
              </a:r>
            </a:p>
            <a:p>
              <a:pPr algn="l" marL="417958" indent="-208979" lvl="1">
                <a:lnSpc>
                  <a:spcPts val="2710"/>
                </a:lnSpc>
                <a:buFont typeface="Arial"/>
                <a:buChar char="•"/>
              </a:pPr>
              <a:r>
                <a:rPr lang="en-US" b="true" sz="1935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TFLite on-device (YOLOv8n · 4.3MB · offline)</a:t>
              </a:r>
            </a:p>
            <a:p>
              <a:pPr algn="l" marL="417958" indent="-208979" lvl="1">
                <a:lnSpc>
                  <a:spcPts val="2710"/>
                </a:lnSpc>
                <a:buFont typeface="Arial"/>
                <a:buChar char="•"/>
              </a:pPr>
              <a:r>
                <a:rPr lang="en-US" b="true" sz="1935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Firebase Auth + FCM</a:t>
              </a:r>
            </a:p>
            <a:p>
              <a:pPr algn="l" marL="417958" indent="-208979" lvl="1">
                <a:lnSpc>
                  <a:spcPts val="2710"/>
                </a:lnSpc>
                <a:buFont typeface="Arial"/>
                <a:buChar char="•"/>
              </a:pPr>
              <a:r>
                <a:rPr lang="en-US" b="true" sz="1935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PouliPal Chat (OpenRouter LLM)</a:t>
              </a:r>
            </a:p>
            <a:p>
              <a:pPr algn="l">
                <a:lnSpc>
                  <a:spcPts val="271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10688"/>
            <a:ext cx="442747" cy="51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46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  <a:p>
            <a:pPr algn="ctr">
              <a:lnSpc>
                <a:spcPts val="205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908554" y="3817625"/>
            <a:ext cx="7595905" cy="7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5"/>
              </a:lnSpc>
              <a:spcBef>
                <a:spcPct val="0"/>
              </a:spcBef>
            </a:pPr>
            <a:r>
              <a:rPr lang="en-US" b="true" sz="4360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766528" y="3987380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766528" y="6041054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766528" y="8094728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6439910" y="3292057"/>
            <a:ext cx="0" cy="6555277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6675143" y="565634"/>
            <a:ext cx="7903707" cy="2404528"/>
            <a:chOff x="0" y="0"/>
            <a:chExt cx="10538276" cy="320603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538276" cy="3206037"/>
              <a:chOff x="0" y="0"/>
              <a:chExt cx="1325630" cy="40329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25630" cy="403294"/>
              </a:xfrm>
              <a:custGeom>
                <a:avLst/>
                <a:gdLst/>
                <a:ahLst/>
                <a:cxnLst/>
                <a:rect r="r" b="b" t="t" l="l"/>
                <a:pathLst>
                  <a:path h="403294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283754"/>
                    </a:lnTo>
                    <a:cubicBezTo>
                      <a:pt x="1325630" y="349774"/>
                      <a:pt x="1272110" y="403294"/>
                      <a:pt x="1206090" y="403294"/>
                    </a:cubicBezTo>
                    <a:lnTo>
                      <a:pt x="119540" y="403294"/>
                    </a:lnTo>
                    <a:cubicBezTo>
                      <a:pt x="87836" y="403294"/>
                      <a:pt x="57431" y="390699"/>
                      <a:pt x="35012" y="368281"/>
                    </a:cubicBezTo>
                    <a:cubicBezTo>
                      <a:pt x="12594" y="345863"/>
                      <a:pt x="0" y="315458"/>
                      <a:pt x="0" y="283754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325630" cy="441394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49751" y="172390"/>
              <a:ext cx="5612108" cy="672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176"/>
                </a:lnSpc>
                <a:spcBef>
                  <a:spcPct val="0"/>
                </a:spcBef>
              </a:pPr>
              <a:r>
                <a:rPr lang="en-US" b="true" sz="2983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Collection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488204" y="1127256"/>
              <a:ext cx="7561868" cy="1370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76"/>
                </a:lnSpc>
                <a:spcBef>
                  <a:spcPct val="0"/>
                </a:spcBef>
              </a:pPr>
              <a:r>
                <a:rPr lang="en-US" sz="298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13,000 labelled dropping images with 4 classes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23279" y="5322842"/>
            <a:ext cx="5642013" cy="3764079"/>
            <a:chOff x="0" y="0"/>
            <a:chExt cx="7522684" cy="501877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522684" cy="5018772"/>
              <a:chOff x="0" y="0"/>
              <a:chExt cx="1812450" cy="120917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12450" cy="1209179"/>
              </a:xfrm>
              <a:custGeom>
                <a:avLst/>
                <a:gdLst/>
                <a:ahLst/>
                <a:cxnLst/>
                <a:rect r="r" b="b" t="t" l="l"/>
                <a:pathLst>
                  <a:path h="1209179" w="1812450">
                    <a:moveTo>
                      <a:pt x="87432" y="0"/>
                    </a:moveTo>
                    <a:lnTo>
                      <a:pt x="1725018" y="0"/>
                    </a:lnTo>
                    <a:cubicBezTo>
                      <a:pt x="1748207" y="0"/>
                      <a:pt x="1770445" y="9212"/>
                      <a:pt x="1786842" y="25608"/>
                    </a:cubicBezTo>
                    <a:cubicBezTo>
                      <a:pt x="1803239" y="42005"/>
                      <a:pt x="1812450" y="64243"/>
                      <a:pt x="1812450" y="87432"/>
                    </a:cubicBezTo>
                    <a:lnTo>
                      <a:pt x="1812450" y="1121748"/>
                    </a:lnTo>
                    <a:cubicBezTo>
                      <a:pt x="1812450" y="1144936"/>
                      <a:pt x="1803239" y="1167175"/>
                      <a:pt x="1786842" y="1183571"/>
                    </a:cubicBezTo>
                    <a:cubicBezTo>
                      <a:pt x="1770445" y="1199968"/>
                      <a:pt x="1748207" y="1209179"/>
                      <a:pt x="1725018" y="1209179"/>
                    </a:cubicBezTo>
                    <a:lnTo>
                      <a:pt x="87432" y="1209179"/>
                    </a:lnTo>
                    <a:cubicBezTo>
                      <a:pt x="39145" y="1209179"/>
                      <a:pt x="0" y="1170035"/>
                      <a:pt x="0" y="1121748"/>
                    </a:cubicBezTo>
                    <a:lnTo>
                      <a:pt x="0" y="87432"/>
                    </a:lnTo>
                    <a:cubicBezTo>
                      <a:pt x="0" y="64243"/>
                      <a:pt x="9212" y="42005"/>
                      <a:pt x="25608" y="25608"/>
                    </a:cubicBezTo>
                    <a:cubicBezTo>
                      <a:pt x="42005" y="9212"/>
                      <a:pt x="64243" y="0"/>
                      <a:pt x="87432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812450" cy="1247279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19308" y="328583"/>
              <a:ext cx="4942033" cy="389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13"/>
                </a:lnSpc>
                <a:spcBef>
                  <a:spcPct val="0"/>
                </a:spcBef>
              </a:pPr>
              <a:r>
                <a:rPr lang="en-US" b="true" sz="1723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Experimental Setup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78358" y="1012447"/>
              <a:ext cx="6499709" cy="3697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0651" indent="-190326" lvl="1">
                <a:lnSpc>
                  <a:spcPts val="2468"/>
                </a:lnSpc>
                <a:buFont typeface="Arial"/>
                <a:buChar char="•"/>
              </a:pPr>
              <a:r>
                <a:rPr lang="en-US" sz="176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Google Colab(T4 GPU)</a:t>
              </a:r>
            </a:p>
            <a:p>
              <a:pPr algn="l">
                <a:lnSpc>
                  <a:spcPts val="2468"/>
                </a:lnSpc>
              </a:pPr>
            </a:p>
            <a:p>
              <a:pPr algn="l" marL="380651" indent="-190326" lvl="1">
                <a:lnSpc>
                  <a:spcPts val="2468"/>
                </a:lnSpc>
                <a:buFont typeface="Arial"/>
                <a:buChar char="•"/>
              </a:pPr>
              <a:r>
                <a:rPr lang="en-US" sz="176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Powered by Python, PyTorch, and Ultralytics </a:t>
              </a:r>
              <a:r>
                <a:rPr lang="en-US" sz="176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YOLOv8.</a:t>
              </a:r>
            </a:p>
            <a:p>
              <a:pPr algn="l">
                <a:lnSpc>
                  <a:spcPts val="2468"/>
                </a:lnSpc>
              </a:pPr>
            </a:p>
            <a:p>
              <a:pPr algn="l" marL="380651" indent="-190326" lvl="1">
                <a:lnSpc>
                  <a:spcPts val="2468"/>
                </a:lnSpc>
                <a:buFont typeface="Arial"/>
                <a:buChar char="•"/>
              </a:pPr>
              <a:r>
                <a:rPr lang="en-US" sz="176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Ran for 40 epochs using Adam optimizer (batch size 16, 640x640 resolution).</a:t>
              </a:r>
            </a:p>
            <a:p>
              <a:pPr algn="l">
                <a:lnSpc>
                  <a:spcPts val="2468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55941" y="5410625"/>
            <a:ext cx="8228155" cy="3047793"/>
            <a:chOff x="0" y="0"/>
            <a:chExt cx="10970874" cy="4063724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0970874" cy="4063724"/>
              <a:chOff x="0" y="0"/>
              <a:chExt cx="1325630" cy="49102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325630" cy="491027"/>
              </a:xfrm>
              <a:custGeom>
                <a:avLst/>
                <a:gdLst/>
                <a:ahLst/>
                <a:cxnLst/>
                <a:rect r="r" b="b" t="t" l="l"/>
                <a:pathLst>
                  <a:path h="491027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371487"/>
                    </a:lnTo>
                    <a:cubicBezTo>
                      <a:pt x="1325630" y="437507"/>
                      <a:pt x="1272110" y="491027"/>
                      <a:pt x="1206090" y="491027"/>
                    </a:cubicBezTo>
                    <a:lnTo>
                      <a:pt x="119540" y="491027"/>
                    </a:lnTo>
                    <a:cubicBezTo>
                      <a:pt x="87836" y="491027"/>
                      <a:pt x="57431" y="478433"/>
                      <a:pt x="35012" y="456014"/>
                    </a:cubicBezTo>
                    <a:cubicBezTo>
                      <a:pt x="12594" y="433596"/>
                      <a:pt x="0" y="403191"/>
                      <a:pt x="0" y="371487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325630" cy="529127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717474" y="163545"/>
              <a:ext cx="5842485" cy="716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48"/>
                </a:lnSpc>
                <a:spcBef>
                  <a:spcPct val="0"/>
                </a:spcBef>
              </a:pPr>
              <a:r>
                <a:rPr lang="en-US" b="true" sz="3106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Selection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49295" y="1157608"/>
              <a:ext cx="8374959" cy="1442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48"/>
                </a:lnSpc>
                <a:spcBef>
                  <a:spcPct val="0"/>
                </a:spcBef>
              </a:pPr>
              <a:r>
                <a:rPr lang="en-US" b="true" sz="310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YOLOv8n</a:t>
              </a:r>
              <a:r>
                <a:rPr lang="en-US" sz="310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chosen over YOLOv5, ResNet-50, MobileNetV2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08207" y="5169983"/>
            <a:ext cx="7595905" cy="7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5"/>
              </a:lnSpc>
              <a:spcBef>
                <a:spcPct val="0"/>
              </a:spcBef>
            </a:pPr>
            <a:r>
              <a:rPr lang="en-US" b="true" sz="4360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766528" y="3987380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766528" y="6041054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766528" y="8094728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5308207" y="686734"/>
            <a:ext cx="8016836" cy="3938911"/>
            <a:chOff x="0" y="0"/>
            <a:chExt cx="1567801" cy="7703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67801" cy="770307"/>
            </a:xfrm>
            <a:custGeom>
              <a:avLst/>
              <a:gdLst/>
              <a:ahLst/>
              <a:cxnLst/>
              <a:rect r="r" b="b" t="t" l="l"/>
              <a:pathLst>
                <a:path h="770307" w="1567801">
                  <a:moveTo>
                    <a:pt x="96571" y="0"/>
                  </a:moveTo>
                  <a:lnTo>
                    <a:pt x="1471230" y="0"/>
                  </a:lnTo>
                  <a:cubicBezTo>
                    <a:pt x="1524564" y="0"/>
                    <a:pt x="1567801" y="43236"/>
                    <a:pt x="1567801" y="96571"/>
                  </a:cubicBezTo>
                  <a:lnTo>
                    <a:pt x="1567801" y="673736"/>
                  </a:lnTo>
                  <a:cubicBezTo>
                    <a:pt x="1567801" y="727071"/>
                    <a:pt x="1524564" y="770307"/>
                    <a:pt x="1471230" y="770307"/>
                  </a:cubicBezTo>
                  <a:lnTo>
                    <a:pt x="96571" y="770307"/>
                  </a:lnTo>
                  <a:cubicBezTo>
                    <a:pt x="43236" y="770307"/>
                    <a:pt x="0" y="727071"/>
                    <a:pt x="0" y="673736"/>
                  </a:cubicBezTo>
                  <a:lnTo>
                    <a:pt x="0" y="96571"/>
                  </a:lnTo>
                  <a:cubicBezTo>
                    <a:pt x="0" y="43236"/>
                    <a:pt x="43236" y="0"/>
                    <a:pt x="96571" y="0"/>
                  </a:cubicBezTo>
                  <a:close/>
                </a:path>
              </a:pathLst>
            </a:custGeom>
            <a:solidFill>
              <a:srgbClr val="F8F8F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67801" cy="808407"/>
            </a:xfrm>
            <a:prstGeom prst="rect">
              <a:avLst/>
            </a:prstGeom>
          </p:spPr>
          <p:txBody>
            <a:bodyPr anchor="ctr" rtlCol="false" tIns="49283" lIns="49283" bIns="49283" rIns="49283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938132" y="770434"/>
            <a:ext cx="3609865" cy="459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2"/>
              </a:lnSpc>
              <a:spcBef>
                <a:spcPct val="0"/>
              </a:spcBef>
            </a:pPr>
            <a:r>
              <a:rPr lang="en-US" b="true" sz="2558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Model Training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05801" y="1403680"/>
            <a:ext cx="7401589" cy="286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  <a:spcBef>
                <a:spcPct val="0"/>
              </a:spcBef>
            </a:pPr>
            <a:r>
              <a:rPr lang="en-US" sz="23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YOLOv8n model trained in 2.39 hours over 40 epochs on a 9,266-image dataset, achieving a 0.941 validation mAP50. Convergence was stabilized by mosaic augmentation, and a 0.941 mAP50 was finalized following the automated disabling of this augmentation in the final 10 epochs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7021" y="6998321"/>
            <a:ext cx="6476427" cy="1970310"/>
            <a:chOff x="0" y="0"/>
            <a:chExt cx="8635236" cy="262707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635236" cy="2627079"/>
              <a:chOff x="0" y="0"/>
              <a:chExt cx="1325630" cy="40329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25630" cy="403294"/>
              </a:xfrm>
              <a:custGeom>
                <a:avLst/>
                <a:gdLst/>
                <a:ahLst/>
                <a:cxnLst/>
                <a:rect r="r" b="b" t="t" l="l"/>
                <a:pathLst>
                  <a:path h="403294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283754"/>
                    </a:lnTo>
                    <a:cubicBezTo>
                      <a:pt x="1325630" y="349774"/>
                      <a:pt x="1272110" y="403294"/>
                      <a:pt x="1206090" y="403294"/>
                    </a:cubicBezTo>
                    <a:lnTo>
                      <a:pt x="119540" y="403294"/>
                    </a:lnTo>
                    <a:cubicBezTo>
                      <a:pt x="87836" y="403294"/>
                      <a:pt x="57431" y="390699"/>
                      <a:pt x="35012" y="368281"/>
                    </a:cubicBezTo>
                    <a:cubicBezTo>
                      <a:pt x="12594" y="345863"/>
                      <a:pt x="0" y="315458"/>
                      <a:pt x="0" y="283754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325630" cy="441394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351833" y="127499"/>
              <a:ext cx="4598653" cy="564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422"/>
                </a:lnSpc>
                <a:spcBef>
                  <a:spcPct val="0"/>
                </a:spcBef>
              </a:pPr>
              <a:r>
                <a:rPr lang="en-US" b="true" sz="2444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Evaluation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219459" y="909931"/>
              <a:ext cx="6196318" cy="1136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2"/>
                </a:lnSpc>
                <a:spcBef>
                  <a:spcPct val="0"/>
                </a:spcBef>
              </a:pPr>
              <a:r>
                <a:rPr lang="en-US" sz="244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13,000 labelled dropping images with 4 classes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86830" y="6998321"/>
            <a:ext cx="6476427" cy="1970310"/>
            <a:chOff x="0" y="0"/>
            <a:chExt cx="8635236" cy="262707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635236" cy="2627079"/>
              <a:chOff x="0" y="0"/>
              <a:chExt cx="1325630" cy="40329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25630" cy="403294"/>
              </a:xfrm>
              <a:custGeom>
                <a:avLst/>
                <a:gdLst/>
                <a:ahLst/>
                <a:cxnLst/>
                <a:rect r="r" b="b" t="t" l="l"/>
                <a:pathLst>
                  <a:path h="403294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283754"/>
                    </a:lnTo>
                    <a:cubicBezTo>
                      <a:pt x="1325630" y="349774"/>
                      <a:pt x="1272110" y="403294"/>
                      <a:pt x="1206090" y="403294"/>
                    </a:cubicBezTo>
                    <a:lnTo>
                      <a:pt x="119540" y="403294"/>
                    </a:lnTo>
                    <a:cubicBezTo>
                      <a:pt x="87836" y="403294"/>
                      <a:pt x="57431" y="390699"/>
                      <a:pt x="35012" y="368281"/>
                    </a:cubicBezTo>
                    <a:cubicBezTo>
                      <a:pt x="12594" y="345863"/>
                      <a:pt x="0" y="315458"/>
                      <a:pt x="0" y="283754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25630" cy="441394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351833" y="127499"/>
              <a:ext cx="4598653" cy="564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422"/>
                </a:lnSpc>
                <a:spcBef>
                  <a:spcPct val="0"/>
                </a:spcBef>
              </a:pPr>
              <a:r>
                <a:rPr lang="en-US" b="true" sz="2444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System Testing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219459" y="909931"/>
              <a:ext cx="6196318" cy="1136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2"/>
                </a:lnSpc>
                <a:spcBef>
                  <a:spcPct val="0"/>
                </a:spcBef>
              </a:pPr>
              <a:r>
                <a:rPr lang="en-US" sz="244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13,000 labelled dropping images with 4 classes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745315" y="4167291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721377" y="4126254"/>
            <a:ext cx="1011607" cy="10116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3867202" y="3198397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46047" y="1757104"/>
            <a:ext cx="759590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 Why YOLOv8n?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46047" y="461281"/>
            <a:ext cx="7595905" cy="7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5"/>
              </a:lnSpc>
              <a:spcBef>
                <a:spcPct val="0"/>
              </a:spcBef>
            </a:pPr>
            <a:r>
              <a:rPr lang="en-US" b="true" sz="4360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Satellite Implementation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766528" y="3987380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766528" y="8094728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55393" y="1781235"/>
            <a:ext cx="6476427" cy="3802284"/>
            <a:chOff x="0" y="0"/>
            <a:chExt cx="8635236" cy="50697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635236" cy="5069712"/>
              <a:chOff x="0" y="0"/>
              <a:chExt cx="1325630" cy="77827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25630" cy="778272"/>
              </a:xfrm>
              <a:custGeom>
                <a:avLst/>
                <a:gdLst/>
                <a:ahLst/>
                <a:cxnLst/>
                <a:rect r="r" b="b" t="t" l="l"/>
                <a:pathLst>
                  <a:path h="778272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658732"/>
                    </a:lnTo>
                    <a:cubicBezTo>
                      <a:pt x="1325630" y="724752"/>
                      <a:pt x="1272110" y="778272"/>
                      <a:pt x="1206090" y="778272"/>
                    </a:cubicBezTo>
                    <a:lnTo>
                      <a:pt x="119540" y="778272"/>
                    </a:lnTo>
                    <a:cubicBezTo>
                      <a:pt x="53520" y="778272"/>
                      <a:pt x="0" y="724752"/>
                      <a:pt x="0" y="658732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325630" cy="816372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853434" y="166980"/>
              <a:ext cx="4532710" cy="1010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2"/>
                </a:lnSpc>
                <a:spcBef>
                  <a:spcPct val="0"/>
                </a:spcBef>
              </a:pPr>
              <a:r>
                <a:rPr lang="en-US" b="true" sz="2144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Google Earth Engine Connection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1914" y="1110344"/>
              <a:ext cx="6855749" cy="3114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84650" indent="-242325" lvl="1">
                <a:lnSpc>
                  <a:spcPts val="3142"/>
                </a:lnSpc>
                <a:buFont typeface="Arial"/>
                <a:buChar char="•"/>
              </a:pPr>
              <a:r>
                <a:rPr lang="en-US" sz="224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GEE provides access to large-scale satellite datasets</a:t>
              </a:r>
            </a:p>
            <a:p>
              <a:pPr algn="l">
                <a:lnSpc>
                  <a:spcPts val="3142"/>
                </a:lnSpc>
              </a:pPr>
            </a:p>
            <a:p>
              <a:pPr algn="l" marL="484650" indent="-242325" lvl="1">
                <a:lnSpc>
                  <a:spcPts val="3142"/>
                </a:lnSpc>
                <a:buFont typeface="Arial"/>
                <a:buChar char="•"/>
              </a:pPr>
              <a:r>
                <a:rPr lang="en-US" sz="224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Python script was used to authenticate and initialize the connection.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01946" y="1781235"/>
            <a:ext cx="6476427" cy="3997864"/>
            <a:chOff x="0" y="0"/>
            <a:chExt cx="8635236" cy="533048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635236" cy="5330486"/>
              <a:chOff x="0" y="0"/>
              <a:chExt cx="1325630" cy="8183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25630" cy="818304"/>
              </a:xfrm>
              <a:custGeom>
                <a:avLst/>
                <a:gdLst/>
                <a:ahLst/>
                <a:cxnLst/>
                <a:rect r="r" b="b" t="t" l="l"/>
                <a:pathLst>
                  <a:path h="818304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698764"/>
                    </a:lnTo>
                    <a:cubicBezTo>
                      <a:pt x="1325630" y="764785"/>
                      <a:pt x="1272110" y="818304"/>
                      <a:pt x="1206090" y="818304"/>
                    </a:cubicBezTo>
                    <a:lnTo>
                      <a:pt x="119540" y="818304"/>
                    </a:lnTo>
                    <a:cubicBezTo>
                      <a:pt x="87836" y="818304"/>
                      <a:pt x="57431" y="805710"/>
                      <a:pt x="35012" y="783292"/>
                    </a:cubicBezTo>
                    <a:cubicBezTo>
                      <a:pt x="12594" y="760874"/>
                      <a:pt x="0" y="730468"/>
                      <a:pt x="0" y="698764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325630" cy="856404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853434" y="166980"/>
              <a:ext cx="4532710" cy="1010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2"/>
                </a:lnSpc>
                <a:spcBef>
                  <a:spcPct val="0"/>
                </a:spcBef>
              </a:pPr>
              <a:r>
                <a:rPr lang="en-US" b="true" sz="2144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Loading Uganda District Boundaries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60214" y="1712975"/>
              <a:ext cx="7330055" cy="3215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1353" indent="-210676" lvl="1">
                <a:lnSpc>
                  <a:spcPts val="2732"/>
                </a:lnSpc>
                <a:buFont typeface="Arial"/>
                <a:buChar char="•"/>
              </a:pPr>
              <a:r>
                <a:rPr lang="en-US" sz="19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Uganda district boundaries  obtained from the FAO/GAUL(2024) Level 2 dataset.</a:t>
              </a:r>
            </a:p>
            <a:p>
              <a:pPr algn="l">
                <a:lnSpc>
                  <a:spcPts val="2732"/>
                </a:lnSpc>
              </a:pPr>
            </a:p>
            <a:p>
              <a:pPr algn="l" marL="421353" indent="-210676" lvl="1">
                <a:lnSpc>
                  <a:spcPts val="2732"/>
                </a:lnSpc>
                <a:buFont typeface="Arial"/>
                <a:buChar char="•"/>
              </a:pPr>
              <a:r>
                <a:rPr lang="en-US" sz="19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These boundaries serve as analysis zones for environmental monitoring.</a:t>
              </a:r>
            </a:p>
            <a:p>
              <a:pPr algn="l">
                <a:lnSpc>
                  <a:spcPts val="2732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10487" y="5807675"/>
            <a:ext cx="6476427" cy="4378864"/>
            <a:chOff x="0" y="0"/>
            <a:chExt cx="8635236" cy="583848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635236" cy="5838486"/>
              <a:chOff x="0" y="0"/>
              <a:chExt cx="1325630" cy="89629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25630" cy="896290"/>
              </a:xfrm>
              <a:custGeom>
                <a:avLst/>
                <a:gdLst/>
                <a:ahLst/>
                <a:cxnLst/>
                <a:rect r="r" b="b" t="t" l="l"/>
                <a:pathLst>
                  <a:path h="896290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776750"/>
                    </a:lnTo>
                    <a:cubicBezTo>
                      <a:pt x="1325630" y="842770"/>
                      <a:pt x="1272110" y="896290"/>
                      <a:pt x="1206090" y="896290"/>
                    </a:cubicBezTo>
                    <a:lnTo>
                      <a:pt x="119540" y="896290"/>
                    </a:lnTo>
                    <a:cubicBezTo>
                      <a:pt x="53520" y="896290"/>
                      <a:pt x="0" y="842770"/>
                      <a:pt x="0" y="776750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25630" cy="934390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787491" y="397781"/>
              <a:ext cx="5060254" cy="1010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2"/>
                </a:lnSpc>
                <a:spcBef>
                  <a:spcPct val="0"/>
                </a:spcBef>
              </a:pPr>
              <a:r>
                <a:rPr lang="en-US" b="true" sz="2144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Extracting the 4 Environmental Indicators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928875"/>
              <a:ext cx="8314069" cy="3215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1353" indent="-210676" lvl="1">
                <a:lnSpc>
                  <a:spcPts val="2732"/>
                </a:lnSpc>
                <a:buFont typeface="Arial"/>
                <a:buChar char="•"/>
              </a:pPr>
              <a:r>
                <a:rPr lang="en-US" sz="19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NDVI (Vegetat</a:t>
              </a:r>
              <a:r>
                <a:rPr lang="en-US" sz="19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ion) and </a:t>
              </a:r>
              <a:r>
                <a:rPr lang="en-US" sz="19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NDMI (Moisture) from sentinel - 2</a:t>
              </a:r>
            </a:p>
            <a:p>
              <a:pPr algn="l">
                <a:lnSpc>
                  <a:spcPts val="2732"/>
                </a:lnSpc>
              </a:pPr>
            </a:p>
            <a:p>
              <a:pPr algn="l" marL="421353" indent="-210676" lvl="1">
                <a:lnSpc>
                  <a:spcPts val="2732"/>
                </a:lnSpc>
                <a:buFont typeface="Arial"/>
                <a:buChar char="•"/>
              </a:pPr>
              <a:r>
                <a:rPr lang="en-US" sz="19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Land Surface Temperature from MODIS</a:t>
              </a:r>
            </a:p>
            <a:p>
              <a:pPr algn="l">
                <a:lnSpc>
                  <a:spcPts val="2732"/>
                </a:lnSpc>
              </a:pPr>
            </a:p>
            <a:p>
              <a:pPr algn="l" marL="421353" indent="-210676" lvl="1">
                <a:lnSpc>
                  <a:spcPts val="2732"/>
                </a:lnSpc>
                <a:buFont typeface="Arial"/>
                <a:buChar char="•"/>
              </a:pPr>
              <a:r>
                <a:rPr lang="en-US" sz="19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Water Body Presence from JRC Surface Water</a:t>
              </a:r>
            </a:p>
            <a:p>
              <a:pPr algn="l">
                <a:lnSpc>
                  <a:spcPts val="2732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46047" y="461281"/>
            <a:ext cx="7595905" cy="7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5"/>
              </a:lnSpc>
              <a:spcBef>
                <a:spcPct val="0"/>
              </a:spcBef>
            </a:pPr>
            <a:r>
              <a:rPr lang="en-US" b="true" sz="4360">
                <a:solidFill>
                  <a:srgbClr val="254117"/>
                </a:solidFill>
                <a:latin typeface="Poppins Bold"/>
                <a:ea typeface="Poppins Bold"/>
                <a:cs typeface="Poppins Bold"/>
                <a:sym typeface="Poppins Bold"/>
              </a:rPr>
              <a:t>Satellite Implementation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766528" y="3987380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766528" y="8094728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55393" y="1781235"/>
            <a:ext cx="6573861" cy="4074776"/>
            <a:chOff x="0" y="0"/>
            <a:chExt cx="8765147" cy="543303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765147" cy="5433035"/>
              <a:chOff x="0" y="0"/>
              <a:chExt cx="1513509" cy="93814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13509" cy="938142"/>
              </a:xfrm>
              <a:custGeom>
                <a:avLst/>
                <a:gdLst/>
                <a:ahLst/>
                <a:cxnLst/>
                <a:rect r="r" b="b" t="t" l="l"/>
                <a:pathLst>
                  <a:path h="938142" w="1513509">
                    <a:moveTo>
                      <a:pt x="104701" y="0"/>
                    </a:moveTo>
                    <a:lnTo>
                      <a:pt x="1408808" y="0"/>
                    </a:lnTo>
                    <a:cubicBezTo>
                      <a:pt x="1466633" y="0"/>
                      <a:pt x="1513509" y="46876"/>
                      <a:pt x="1513509" y="104701"/>
                    </a:cubicBezTo>
                    <a:lnTo>
                      <a:pt x="1513509" y="833441"/>
                    </a:lnTo>
                    <a:cubicBezTo>
                      <a:pt x="1513509" y="891265"/>
                      <a:pt x="1466633" y="938142"/>
                      <a:pt x="1408808" y="938142"/>
                    </a:cubicBezTo>
                    <a:lnTo>
                      <a:pt x="104701" y="938142"/>
                    </a:lnTo>
                    <a:cubicBezTo>
                      <a:pt x="46876" y="938142"/>
                      <a:pt x="0" y="891265"/>
                      <a:pt x="0" y="833441"/>
                    </a:cubicBezTo>
                    <a:lnTo>
                      <a:pt x="0" y="104701"/>
                    </a:lnTo>
                    <a:cubicBezTo>
                      <a:pt x="0" y="46876"/>
                      <a:pt x="46876" y="0"/>
                      <a:pt x="104701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513509" cy="976242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881318" y="160105"/>
              <a:ext cx="5571461" cy="434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9"/>
                </a:lnSpc>
                <a:spcBef>
                  <a:spcPct val="0"/>
                </a:spcBef>
              </a:pPr>
              <a:r>
                <a:rPr lang="en-US" b="true" sz="1906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Zonal Statistics Computation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02324" y="989269"/>
              <a:ext cx="6958889" cy="369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0874" indent="-215437" lvl="1">
                <a:lnSpc>
                  <a:spcPts val="2793"/>
                </a:lnSpc>
                <a:buFont typeface="Arial"/>
                <a:buChar char="•"/>
              </a:pPr>
              <a:r>
                <a:rPr lang="en-US" sz="19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Mean NDVI calculated</a:t>
              </a:r>
            </a:p>
            <a:p>
              <a:pPr algn="l">
                <a:lnSpc>
                  <a:spcPts val="2793"/>
                </a:lnSpc>
              </a:pPr>
            </a:p>
            <a:p>
              <a:pPr algn="l" marL="430874" indent="-215437" lvl="1">
                <a:lnSpc>
                  <a:spcPts val="2793"/>
                </a:lnSpc>
                <a:buFont typeface="Arial"/>
                <a:buChar char="•"/>
              </a:pPr>
              <a:r>
                <a:rPr lang="en-US" sz="19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Mean NDMI calculated</a:t>
              </a:r>
            </a:p>
            <a:p>
              <a:pPr algn="l">
                <a:lnSpc>
                  <a:spcPts val="2793"/>
                </a:lnSpc>
              </a:pPr>
            </a:p>
            <a:p>
              <a:pPr algn="l" marL="430874" indent="-215437" lvl="1">
                <a:lnSpc>
                  <a:spcPts val="2793"/>
                </a:lnSpc>
                <a:buFont typeface="Arial"/>
                <a:buChar char="•"/>
              </a:pPr>
              <a:r>
                <a:rPr lang="en-US" sz="19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Mean Temperature calculated</a:t>
              </a:r>
            </a:p>
            <a:p>
              <a:pPr algn="l">
                <a:lnSpc>
                  <a:spcPts val="2793"/>
                </a:lnSpc>
              </a:pPr>
            </a:p>
            <a:p>
              <a:pPr algn="l" marL="430874" indent="-215437" lvl="1">
                <a:lnSpc>
                  <a:spcPts val="2793"/>
                </a:lnSpc>
                <a:buFont typeface="Arial"/>
                <a:buChar char="•"/>
              </a:pPr>
              <a:r>
                <a:rPr lang="en-US" sz="19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Mean Water Presence calculated</a:t>
              </a:r>
            </a:p>
            <a:p>
              <a:pPr algn="l">
                <a:lnSpc>
                  <a:spcPts val="2793"/>
                </a:lnSpc>
              </a:pPr>
              <a:r>
                <a:rPr lang="en-US" sz="19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</a:t>
              </a:r>
              <a:r>
                <a:rPr lang="en-US" sz="1995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each district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43530" y="2015508"/>
            <a:ext cx="7148269" cy="3972318"/>
            <a:chOff x="0" y="0"/>
            <a:chExt cx="9531025" cy="5296424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531025" cy="5296424"/>
              <a:chOff x="0" y="0"/>
              <a:chExt cx="1325630" cy="73665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25630" cy="736657"/>
              </a:xfrm>
              <a:custGeom>
                <a:avLst/>
                <a:gdLst/>
                <a:ahLst/>
                <a:cxnLst/>
                <a:rect r="r" b="b" t="t" l="l"/>
                <a:pathLst>
                  <a:path h="736657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617117"/>
                    </a:lnTo>
                    <a:cubicBezTo>
                      <a:pt x="1325630" y="648821"/>
                      <a:pt x="1313036" y="679227"/>
                      <a:pt x="1290618" y="701645"/>
                    </a:cubicBezTo>
                    <a:cubicBezTo>
                      <a:pt x="1268200" y="724063"/>
                      <a:pt x="1237794" y="736657"/>
                      <a:pt x="1206090" y="736657"/>
                    </a:cubicBezTo>
                    <a:lnTo>
                      <a:pt x="119540" y="736657"/>
                    </a:lnTo>
                    <a:cubicBezTo>
                      <a:pt x="53520" y="736657"/>
                      <a:pt x="0" y="683137"/>
                      <a:pt x="0" y="617117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325630" cy="774757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045702" y="181694"/>
              <a:ext cx="5002917" cy="5567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4"/>
                </a:lnSpc>
                <a:spcBef>
                  <a:spcPct val="0"/>
                </a:spcBef>
              </a:pPr>
              <a:r>
                <a:rPr lang="en-US" b="true" sz="2367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 scoring engine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20288" y="977971"/>
              <a:ext cx="8090449" cy="3526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5063" indent="-232531" lvl="1">
                <a:lnSpc>
                  <a:spcPts val="3015"/>
                </a:lnSpc>
                <a:buFont typeface="Arial"/>
                <a:buChar char="•"/>
              </a:pPr>
              <a:r>
                <a:rPr lang="en-US" sz="215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It is a rule-based expert syst</a:t>
              </a:r>
              <a:r>
                <a:rPr lang="en-US" sz="215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em built using epidemiological knowledge from literature</a:t>
              </a:r>
            </a:p>
            <a:p>
              <a:pPr algn="l">
                <a:lnSpc>
                  <a:spcPts val="3015"/>
                </a:lnSpc>
              </a:pPr>
            </a:p>
            <a:p>
              <a:pPr algn="l" marL="465063" indent="-232531" lvl="1">
                <a:lnSpc>
                  <a:spcPts val="3015"/>
                </a:lnSpc>
                <a:buFont typeface="Arial"/>
                <a:buChar char="•"/>
              </a:pPr>
              <a:r>
                <a:rPr lang="en-US" sz="215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translates environmental conditions into disease risk levels that farmers can easily understand."</a:t>
              </a:r>
              <a:r>
                <a:rPr lang="en-US" sz="215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65526" y="6727080"/>
            <a:ext cx="6476427" cy="3386884"/>
            <a:chOff x="0" y="0"/>
            <a:chExt cx="8635236" cy="451584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635236" cy="4515845"/>
              <a:chOff x="0" y="0"/>
              <a:chExt cx="1325630" cy="69324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25630" cy="693246"/>
              </a:xfrm>
              <a:custGeom>
                <a:avLst/>
                <a:gdLst/>
                <a:ahLst/>
                <a:cxnLst/>
                <a:rect r="r" b="b" t="t" l="l"/>
                <a:pathLst>
                  <a:path h="693246" w="1325630">
                    <a:moveTo>
                      <a:pt x="119540" y="0"/>
                    </a:moveTo>
                    <a:lnTo>
                      <a:pt x="1206090" y="0"/>
                    </a:lnTo>
                    <a:cubicBezTo>
                      <a:pt x="1237794" y="0"/>
                      <a:pt x="1268200" y="12594"/>
                      <a:pt x="1290618" y="35012"/>
                    </a:cubicBezTo>
                    <a:cubicBezTo>
                      <a:pt x="1313036" y="57431"/>
                      <a:pt x="1325630" y="87836"/>
                      <a:pt x="1325630" y="119540"/>
                    </a:cubicBezTo>
                    <a:lnTo>
                      <a:pt x="1325630" y="573706"/>
                    </a:lnTo>
                    <a:cubicBezTo>
                      <a:pt x="1325630" y="639726"/>
                      <a:pt x="1272110" y="693246"/>
                      <a:pt x="1206090" y="693246"/>
                    </a:cubicBezTo>
                    <a:lnTo>
                      <a:pt x="119540" y="693246"/>
                    </a:lnTo>
                    <a:cubicBezTo>
                      <a:pt x="53520" y="693246"/>
                      <a:pt x="0" y="639726"/>
                      <a:pt x="0" y="573706"/>
                    </a:cubicBezTo>
                    <a:lnTo>
                      <a:pt x="0" y="119540"/>
                    </a:lnTo>
                    <a:cubicBezTo>
                      <a:pt x="0" y="53520"/>
                      <a:pt x="53520" y="0"/>
                      <a:pt x="119540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25630" cy="731346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787491" y="397781"/>
              <a:ext cx="5060254" cy="502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2"/>
                </a:lnSpc>
                <a:spcBef>
                  <a:spcPct val="0"/>
                </a:spcBef>
              </a:pPr>
              <a:r>
                <a:rPr lang="en-US" b="true" sz="2144">
                  <a:solidFill>
                    <a:srgbClr val="2541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Deployment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911593" y="1194113"/>
              <a:ext cx="7720582" cy="2400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42943" indent="-221471" lvl="1">
                <a:lnSpc>
                  <a:spcPts val="2872"/>
                </a:lnSpc>
                <a:buFont typeface="Arial"/>
                <a:buChar char="•"/>
              </a:pPr>
              <a:r>
                <a:rPr lang="en-US" sz="20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0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isk</a:t>
              </a:r>
              <a:r>
                <a:rPr lang="en-US" sz="20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scores are exported as JSON files</a:t>
              </a:r>
            </a:p>
            <a:p>
              <a:pPr algn="just">
                <a:lnSpc>
                  <a:spcPts val="2872"/>
                </a:lnSpc>
              </a:pPr>
            </a:p>
            <a:p>
              <a:pPr algn="just">
                <a:lnSpc>
                  <a:spcPts val="2872"/>
                </a:lnSpc>
              </a:pPr>
              <a:r>
                <a:rPr lang="en-US" sz="20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JSON data is served through:</a:t>
              </a:r>
            </a:p>
            <a:p>
              <a:pPr algn="just" marL="442943" indent="-221471" lvl="1">
                <a:lnSpc>
                  <a:spcPts val="2872"/>
                </a:lnSpc>
                <a:buFont typeface="Arial"/>
                <a:buChar char="•"/>
              </a:pPr>
              <a:r>
                <a:rPr lang="en-US" sz="20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FastAPI Backend</a:t>
              </a:r>
            </a:p>
            <a:p>
              <a:pPr algn="just" marL="442943" indent="-221471" lvl="1">
                <a:lnSpc>
                  <a:spcPts val="2872"/>
                </a:lnSpc>
                <a:buFont typeface="Arial"/>
                <a:buChar char="•"/>
              </a:pPr>
              <a:r>
                <a:rPr lang="en-US" sz="20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05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ender Cloud Platform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745315" y="4167291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721377" y="4126254"/>
            <a:ext cx="1011607" cy="10116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15" id="15"/>
          <p:cNvGraphicFramePr/>
          <p:nvPr/>
        </p:nvGraphicFramePr>
        <p:xfrm>
          <a:off x="2254570" y="3124211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46047" y="1757104"/>
            <a:ext cx="759590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18281" y="553384"/>
            <a:ext cx="759590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69433" y="3149538"/>
            <a:ext cx="12549135" cy="129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29" indent="-263914" lvl="1">
              <a:lnSpc>
                <a:spcPts val="3422"/>
              </a:lnSpc>
              <a:buFont typeface="Arial"/>
              <a:buChar char="•"/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The model maintained strong performance on field-captured images, demonstrating that AI-powered poultry disease diagnosis is practical even in rural environments where image quality cannot be controlled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69433" y="5436557"/>
            <a:ext cx="12549135" cy="172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29" indent="-263914" lvl="1">
              <a:lnSpc>
                <a:spcPts val="3422"/>
              </a:lnSpc>
              <a:buFont typeface="Arial"/>
              <a:buChar char="•"/>
            </a:pPr>
            <a:r>
              <a:rPr lang="en-US" sz="2444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The risk distribution produced by PoultriVet is not random. The high-risk districts are concentrated around environmentally vulnerable regions such as Lake Victoria and the Nile Basin, which agrees with findings reported in veterinary epidemiological literature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92826" y="1028700"/>
            <a:ext cx="13648016" cy="1364801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11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613602" y="2544752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30" y="0"/>
                </a:lnTo>
                <a:lnTo>
                  <a:pt x="11725930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340216" y="2076089"/>
            <a:ext cx="11553237" cy="1155323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49114" y="643510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10448" y="6368821"/>
            <a:ext cx="1634041" cy="163404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true" flipV="false" rot="0">
            <a:off x="2059083" y="693410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0" y="0"/>
                </a:moveTo>
                <a:lnTo>
                  <a:pt x="0" y="0"/>
                </a:lnTo>
                <a:lnTo>
                  <a:pt x="0" y="503483"/>
                </a:lnTo>
                <a:lnTo>
                  <a:pt x="336770" y="503483"/>
                </a:lnTo>
                <a:lnTo>
                  <a:pt x="3367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164756" y="643510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5126089" y="6368821"/>
            <a:ext cx="1634041" cy="163404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774724" y="693410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1" y="0"/>
                </a:lnTo>
                <a:lnTo>
                  <a:pt x="336771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934744" y="5281010"/>
            <a:ext cx="8648803" cy="3396621"/>
          </a:xfrm>
          <a:custGeom>
            <a:avLst/>
            <a:gdLst/>
            <a:ahLst/>
            <a:cxnLst/>
            <a:rect r="r" b="b" t="t" l="l"/>
            <a:pathLst>
              <a:path h="3396621" w="8648803">
                <a:moveTo>
                  <a:pt x="0" y="0"/>
                </a:moveTo>
                <a:lnTo>
                  <a:pt x="8648804" y="0"/>
                </a:lnTo>
                <a:lnTo>
                  <a:pt x="8648804" y="3396621"/>
                </a:lnTo>
                <a:lnTo>
                  <a:pt x="0" y="33966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DAHDlPhGAyI</dc:identifier>
  <dcterms:modified xsi:type="dcterms:W3CDTF">2011-08-01T06:04:30Z</dcterms:modified>
  <cp:revision>1</cp:revision>
  <dc:title>Poultrivet Defense slides final</dc:title>
</cp:coreProperties>
</file>